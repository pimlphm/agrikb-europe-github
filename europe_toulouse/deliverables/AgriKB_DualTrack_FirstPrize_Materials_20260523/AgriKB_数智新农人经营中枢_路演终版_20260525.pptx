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75e4aa67244ab6" /><Relationship Type="http://schemas.openxmlformats.org/officeDocument/2006/relationships/extended-properties" Target="/docProps/app.xml" Id="Raac4f09a49434176" /><Relationship Type="http://schemas.openxmlformats.org/officeDocument/2006/relationships/officeDocument" Target="/ppt/presentation.xml" Id="Rc4fafabea70c40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e50f3f65b54e32"/>
  </p:sldMasterIdLst>
  <p:notesMasterIdLst>
    <p:notesMasterId xmlns:r="http://schemas.openxmlformats.org/officeDocument/2006/relationships" r:id="Rcbae13b0edf143d0"/>
  </p:notesMasterIdLst>
  <p:sldIdLst>
    <p:sldId xmlns:r="http://schemas.openxmlformats.org/officeDocument/2006/relationships" id="256" r:id="Rdb8409a258834cc5"/>
    <p:sldId xmlns:r="http://schemas.openxmlformats.org/officeDocument/2006/relationships" id="257" r:id="R9217c7f09aee4ab1"/>
    <p:sldId xmlns:r="http://schemas.openxmlformats.org/officeDocument/2006/relationships" id="258" r:id="R0e7f06427bbb4bf9"/>
    <p:sldId xmlns:r="http://schemas.openxmlformats.org/officeDocument/2006/relationships" id="259" r:id="Ra8f4122995e14111"/>
    <p:sldId xmlns:r="http://schemas.openxmlformats.org/officeDocument/2006/relationships" id="260" r:id="Rd49ca31d8ce54f1e"/>
    <p:sldId xmlns:r="http://schemas.openxmlformats.org/officeDocument/2006/relationships" id="261" r:id="R013f035f6e644958"/>
    <p:sldId xmlns:r="http://schemas.openxmlformats.org/officeDocument/2006/relationships" id="262" r:id="Rcf18933e406d40eb"/>
    <p:sldId xmlns:r="http://schemas.openxmlformats.org/officeDocument/2006/relationships" id="263" r:id="R26b0be516fdf4f43"/>
    <p:sldId xmlns:r="http://schemas.openxmlformats.org/officeDocument/2006/relationships" id="264" r:id="Ra3f0bcd6679d4036"/>
    <p:sldId xmlns:r="http://schemas.openxmlformats.org/officeDocument/2006/relationships" id="265" r:id="Raf7a67cd437e4642"/>
    <p:sldId xmlns:r="http://schemas.openxmlformats.org/officeDocument/2006/relationships" id="266" r:id="R3660fa31d8cd4d74"/>
    <p:sldId xmlns:r="http://schemas.openxmlformats.org/officeDocument/2006/relationships" id="267" r:id="R7cf7baf4ea96406c"/>
    <p:sldId xmlns:r="http://schemas.openxmlformats.org/officeDocument/2006/relationships" id="268" r:id="Rea1fc8962b424006"/>
    <p:sldId xmlns:r="http://schemas.openxmlformats.org/officeDocument/2006/relationships" id="269" r:id="R7cc10433c04448fe"/>
    <p:sldId xmlns:r="http://schemas.openxmlformats.org/officeDocument/2006/relationships" id="270" r:id="R8dda6d4eac624d11"/>
    <p:sldId xmlns:r="http://schemas.openxmlformats.org/officeDocument/2006/relationships" id="271" r:id="R4a20e1baa5d441ff"/>
    <p:sldId xmlns:r="http://schemas.openxmlformats.org/officeDocument/2006/relationships" id="272" r:id="R998591d4583b4c15"/>
    <p:sldId xmlns:r="http://schemas.openxmlformats.org/officeDocument/2006/relationships" id="273" r:id="Rb38afbb022a84505"/>
    <p:sldId xmlns:r="http://schemas.openxmlformats.org/officeDocument/2006/relationships" id="274" r:id="R939fd3b6852048bc"/>
    <p:sldId xmlns:r="http://schemas.openxmlformats.org/officeDocument/2006/relationships" id="275" r:id="R6c85ff0383874799"/>
    <p:sldId xmlns:r="http://schemas.openxmlformats.org/officeDocument/2006/relationships" id="276" r:id="Ra7cd9a80352c46b7"/>
    <p:sldId xmlns:r="http://schemas.openxmlformats.org/officeDocument/2006/relationships" id="277" r:id="R9df9729d5aa94353"/>
    <p:sldId xmlns:r="http://schemas.openxmlformats.org/officeDocument/2006/relationships" id="278" r:id="R185f0aa7954a4b2e"/>
    <p:sldId xmlns:r="http://schemas.openxmlformats.org/officeDocument/2006/relationships" id="279" r:id="Ra73c33ca992640e9"/>
    <p:sldId xmlns:r="http://schemas.openxmlformats.org/officeDocument/2006/relationships" id="280" r:id="R16053b0a962c4f55"/>
    <p:sldId xmlns:r="http://schemas.openxmlformats.org/officeDocument/2006/relationships" id="281" r:id="R8cae06943c9b4ba7"/>
    <p:sldId xmlns:r="http://schemas.openxmlformats.org/officeDocument/2006/relationships" id="282" r:id="Rf1fe2d5bd3d14677"/>
    <p:sldId xmlns:r="http://schemas.openxmlformats.org/officeDocument/2006/relationships" id="283" r:id="R0cb4be42d6fa415e"/>
    <p:sldId xmlns:r="http://schemas.openxmlformats.org/officeDocument/2006/relationships" id="284" r:id="R9d64623183594470"/>
    <p:sldId xmlns:r="http://schemas.openxmlformats.org/officeDocument/2006/relationships" id="285" r:id="R196dd076cb0a45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50f3f65b54e32" /><Relationship Type="http://schemas.openxmlformats.org/officeDocument/2006/relationships/theme" Target="/ppt/theme/theme1.xml" Id="R0541f81e5cbf476e" /><Relationship Type="http://schemas.openxmlformats.org/officeDocument/2006/relationships/notesMaster" Target="/ppt/notesMasters/notesMaster1.xml" Id="Rcbae13b0edf143d0" /><Relationship Type="http://schemas.openxmlformats.org/officeDocument/2006/relationships/presProps" Target="/ppt/presProps.xml" Id="R35f4080d4bc74862" /><Relationship Type="http://schemas.openxmlformats.org/officeDocument/2006/relationships/viewProps" Target="/ppt/viewProps.xml" Id="R11419e7bd1734c17" /><Relationship Type="http://schemas.openxmlformats.org/officeDocument/2006/relationships/tableStyles" Target="/ppt/tableStyles.xml" Id="R5dba1ed0c8c74a51" /><Relationship Type="http://schemas.openxmlformats.org/officeDocument/2006/relationships/slide" Target="/ppt/slides/slide1.xml" Id="Rdb8409a258834cc5" /><Relationship Type="http://schemas.openxmlformats.org/officeDocument/2006/relationships/slide" Target="/ppt/slides/slide2.xml" Id="R9217c7f09aee4ab1" /><Relationship Type="http://schemas.openxmlformats.org/officeDocument/2006/relationships/slide" Target="/ppt/slides/slide3.xml" Id="R0e7f06427bbb4bf9" /><Relationship Type="http://schemas.openxmlformats.org/officeDocument/2006/relationships/slide" Target="/ppt/slides/slide4.xml" Id="Ra8f4122995e14111" /><Relationship Type="http://schemas.openxmlformats.org/officeDocument/2006/relationships/slide" Target="/ppt/slides/slide5.xml" Id="Rd49ca31d8ce54f1e" /><Relationship Type="http://schemas.openxmlformats.org/officeDocument/2006/relationships/slide" Target="/ppt/slides/slide6.xml" Id="R013f035f6e644958" /><Relationship Type="http://schemas.openxmlformats.org/officeDocument/2006/relationships/slide" Target="/ppt/slides/slide7.xml" Id="Rcf18933e406d40eb" /><Relationship Type="http://schemas.openxmlformats.org/officeDocument/2006/relationships/slide" Target="/ppt/slides/slide8.xml" Id="R26b0be516fdf4f43" /><Relationship Type="http://schemas.openxmlformats.org/officeDocument/2006/relationships/slide" Target="/ppt/slides/slide9.xml" Id="Ra3f0bcd6679d4036" /><Relationship Type="http://schemas.openxmlformats.org/officeDocument/2006/relationships/slide" Target="/ppt/slides/slide10.xml" Id="Raf7a67cd437e4642" /><Relationship Type="http://schemas.openxmlformats.org/officeDocument/2006/relationships/slide" Target="/ppt/slides/slide11.xml" Id="R3660fa31d8cd4d74" /><Relationship Type="http://schemas.openxmlformats.org/officeDocument/2006/relationships/slide" Target="/ppt/slides/slide12.xml" Id="R7cf7baf4ea96406c" /><Relationship Type="http://schemas.openxmlformats.org/officeDocument/2006/relationships/slide" Target="/ppt/slides/slide13.xml" Id="Rea1fc8962b424006" /><Relationship Type="http://schemas.openxmlformats.org/officeDocument/2006/relationships/slide" Target="/ppt/slides/slide14.xml" Id="R7cc10433c04448fe" /><Relationship Type="http://schemas.openxmlformats.org/officeDocument/2006/relationships/slide" Target="/ppt/slides/slide15.xml" Id="R8dda6d4eac624d11" /><Relationship Type="http://schemas.openxmlformats.org/officeDocument/2006/relationships/slide" Target="/ppt/slides/slide16.xml" Id="R4a20e1baa5d441ff" /><Relationship Type="http://schemas.openxmlformats.org/officeDocument/2006/relationships/slide" Target="/ppt/slides/slide17.xml" Id="R998591d4583b4c15" /><Relationship Type="http://schemas.openxmlformats.org/officeDocument/2006/relationships/slide" Target="/ppt/slides/slide18.xml" Id="Rb38afbb022a84505" /><Relationship Type="http://schemas.openxmlformats.org/officeDocument/2006/relationships/slide" Target="/ppt/slides/slide19.xml" Id="R939fd3b6852048bc" /><Relationship Type="http://schemas.openxmlformats.org/officeDocument/2006/relationships/slide" Target="/ppt/slides/slide20.xml" Id="R6c85ff0383874799" /><Relationship Type="http://schemas.openxmlformats.org/officeDocument/2006/relationships/slide" Target="/ppt/slides/slide21.xml" Id="Ra7cd9a80352c46b7" /><Relationship Type="http://schemas.openxmlformats.org/officeDocument/2006/relationships/slide" Target="/ppt/slides/slide22.xml" Id="R9df9729d5aa94353" /><Relationship Type="http://schemas.openxmlformats.org/officeDocument/2006/relationships/slide" Target="/ppt/slides/slide23.xml" Id="R185f0aa7954a4b2e" /><Relationship Type="http://schemas.openxmlformats.org/officeDocument/2006/relationships/slide" Target="/ppt/slides/slide24.xml" Id="Ra73c33ca992640e9" /><Relationship Type="http://schemas.openxmlformats.org/officeDocument/2006/relationships/slide" Target="/ppt/slides/slide25.xml" Id="R16053b0a962c4f55" /><Relationship Type="http://schemas.openxmlformats.org/officeDocument/2006/relationships/slide" Target="/ppt/slides/slide26.xml" Id="R8cae06943c9b4ba7" /><Relationship Type="http://schemas.openxmlformats.org/officeDocument/2006/relationships/slide" Target="/ppt/slides/slide27.xml" Id="Rf1fe2d5bd3d14677" /><Relationship Type="http://schemas.openxmlformats.org/officeDocument/2006/relationships/slide" Target="/ppt/slides/slide28.xml" Id="R0cb4be42d6fa415e" /><Relationship Type="http://schemas.openxmlformats.org/officeDocument/2006/relationships/slide" Target="/ppt/slides/slide29.xml" Id="R9d64623183594470" /><Relationship Type="http://schemas.openxmlformats.org/officeDocument/2006/relationships/slide" Target="/ppt/slides/slide30.xml" Id="R196dd076cb0a45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39c6481e6be40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7a1549529b48c2" /><Relationship Type="http://schemas.openxmlformats.org/officeDocument/2006/relationships/notesMaster" Target="/ppt/notesMasters/notesMaster1.xml" Id="R06e62d4550e744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bbb168db1a4072" /><Relationship Type="http://schemas.openxmlformats.org/officeDocument/2006/relationships/notesMaster" Target="/ppt/notesMasters/notesMaster1.xml" Id="Re1c95d34d47746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67552c89284bcf" /><Relationship Type="http://schemas.openxmlformats.org/officeDocument/2006/relationships/notesMaster" Target="/ppt/notesMasters/notesMaster1.xml" Id="R2eb33e610d8143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709ec8aa934dd8" /><Relationship Type="http://schemas.openxmlformats.org/officeDocument/2006/relationships/notesMaster" Target="/ppt/notesMasters/notesMaster1.xml" Id="R4eaa62c3a4bd49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9a5b7450a54d56" /><Relationship Type="http://schemas.openxmlformats.org/officeDocument/2006/relationships/notesMaster" Target="/ppt/notesMasters/notesMaster1.xml" Id="Rf0de1abf2a4846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66a9673658408d" /><Relationship Type="http://schemas.openxmlformats.org/officeDocument/2006/relationships/notesMaster" Target="/ppt/notesMasters/notesMaster1.xml" Id="R6e0237873d5146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fa2048d97d4b0e" /><Relationship Type="http://schemas.openxmlformats.org/officeDocument/2006/relationships/notesMaster" Target="/ppt/notesMasters/notesMaster1.xml" Id="R013b5816c24e49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7d91f132cf49b3" /><Relationship Type="http://schemas.openxmlformats.org/officeDocument/2006/relationships/notesMaster" Target="/ppt/notesMasters/notesMaster1.xml" Id="R1908aaf7d7724f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2a1b2dc49546cc" /><Relationship Type="http://schemas.openxmlformats.org/officeDocument/2006/relationships/notesMaster" Target="/ppt/notesMasters/notesMaster1.xml" Id="R7a737665e18a4c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0725dd76d748d9" /><Relationship Type="http://schemas.openxmlformats.org/officeDocument/2006/relationships/notesMaster" Target="/ppt/notesMasters/notesMaster1.xml" Id="Ra06a365836ab47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864d2118a04c26" /><Relationship Type="http://schemas.openxmlformats.org/officeDocument/2006/relationships/notesMaster" Target="/ppt/notesMasters/notesMaster1.xml" Id="R65c1c88edcb148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7a22ebe2ec40d0" /><Relationship Type="http://schemas.openxmlformats.org/officeDocument/2006/relationships/notesMaster" Target="/ppt/notesMasters/notesMaster1.xml" Id="Ra50c658f752c41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0a16a63b1b43eb" /><Relationship Type="http://schemas.openxmlformats.org/officeDocument/2006/relationships/notesMaster" Target="/ppt/notesMasters/notesMaster1.xml" Id="R55e95fe266864b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d61c6985aa44d4" /><Relationship Type="http://schemas.openxmlformats.org/officeDocument/2006/relationships/notesMaster" Target="/ppt/notesMasters/notesMaster1.xml" Id="Rb611fc358cb343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4111c803e04ddd" /><Relationship Type="http://schemas.openxmlformats.org/officeDocument/2006/relationships/notesMaster" Target="/ppt/notesMasters/notesMaster1.xml" Id="R1448493e3f8148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edde5e480445e8" /><Relationship Type="http://schemas.openxmlformats.org/officeDocument/2006/relationships/notesMaster" Target="/ppt/notesMasters/notesMaster1.xml" Id="Ra86541c8145345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b3a756d4d44629" /><Relationship Type="http://schemas.openxmlformats.org/officeDocument/2006/relationships/notesMaster" Target="/ppt/notesMasters/notesMaster1.xml" Id="Rde5da47a24e142e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57e2e92cca24260" /><Relationship Type="http://schemas.openxmlformats.org/officeDocument/2006/relationships/notesMaster" Target="/ppt/notesMasters/notesMaster1.xml" Id="R8b7d84f0730841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12c89f4ff64137" /><Relationship Type="http://schemas.openxmlformats.org/officeDocument/2006/relationships/notesMaster" Target="/ppt/notesMasters/notesMaster1.xml" Id="R833d5a5a888c47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b37e646d3394479" /><Relationship Type="http://schemas.openxmlformats.org/officeDocument/2006/relationships/notesMaster" Target="/ppt/notesMasters/notesMaster1.xml" Id="Rb2335aa9903741a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98d7233aa3d4b10" /><Relationship Type="http://schemas.openxmlformats.org/officeDocument/2006/relationships/notesMaster" Target="/ppt/notesMasters/notesMaster1.xml" Id="R9e5e56a441bc4e7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ba8aae4955494e" /><Relationship Type="http://schemas.openxmlformats.org/officeDocument/2006/relationships/notesMaster" Target="/ppt/notesMasters/notesMaster1.xml" Id="R979c7c28c5e140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e4085e058af48bf" /><Relationship Type="http://schemas.openxmlformats.org/officeDocument/2006/relationships/notesMaster" Target="/ppt/notesMasters/notesMaster1.xml" Id="R1fedbc3614e54d5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57ccaed0b164745" /><Relationship Type="http://schemas.openxmlformats.org/officeDocument/2006/relationships/notesMaster" Target="/ppt/notesMasters/notesMaster1.xml" Id="R49dea79378884e8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15213d7c0a842bb" /><Relationship Type="http://schemas.openxmlformats.org/officeDocument/2006/relationships/notesMaster" Target="/ppt/notesMasters/notesMaster1.xml" Id="Raa3e6d6e3dae4e2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f8344a2b83d46e3" /><Relationship Type="http://schemas.openxmlformats.org/officeDocument/2006/relationships/notesMaster" Target="/ppt/notesMasters/notesMaster1.xml" Id="Rc3e2ac1516524cb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04563fe23c94b10" /><Relationship Type="http://schemas.openxmlformats.org/officeDocument/2006/relationships/notesMaster" Target="/ppt/notesMasters/notesMaster1.xml" Id="R0cd3ca7daca34e1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2373dfdf16a43e6" /><Relationship Type="http://schemas.openxmlformats.org/officeDocument/2006/relationships/notesMaster" Target="/ppt/notesMasters/notesMaster1.xml" Id="Raeeb1e6805c5407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16d08e518524416" /><Relationship Type="http://schemas.openxmlformats.org/officeDocument/2006/relationships/notesMaster" Target="/ppt/notesMasters/notesMaster1.xml" Id="R1e4c399f9b7e420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6f624a4690c431d" /><Relationship Type="http://schemas.openxmlformats.org/officeDocument/2006/relationships/notesMaster" Target="/ppt/notesMasters/notesMaster1.xml" Id="Rfb87461bb10049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开场先把定位讲清楚：我们做的不是单个聊天机器人，而是面向江苏句容县域农业经营的数智中枢。抓住评委关心的两个赛道：数智信息技术和新农人。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这一页只讲三件事：赛道匹配、政策红利、项目落点。强调我们读了正式通知，产品不是泛泛农业 AI，而是顺着比赛导向设计的。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不要把问题说得太抽象。用一句话：信息都有，但不能直接变成动作。AgriKB 的价值就是把散信息压缩成经营判断。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展示最新 GUI，不讲开发过程。强调输入框、历史对话、设置、文件、地图选点、天气、行情都已经集成进同一屏。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这一页讲产品闭环。要让评委觉得系统不是问答，而是可以帮用户把事情做完。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重点讲用户提出过的要求：知识图谱要更友善。我们把复杂图谱转成监测台和因果规则，能直接告诉农户风险和调整动作。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这页说明不是只给农民，也能给农业局和商业公司。强调治理台、溯源链和 IoT 监测是一套底座的不同视角。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强调用户指定的主题：农业、技术、人才、科技、招商、新媒体，以农业和农人为核心。区别在于我们不泛化刷新闻，而是做产业趋势研判。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讲经营价值：价格单独看没用，天气单独看也没用，真正要结合产地、市场、运输路线和损耗。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这页要体现公共服务价值。讲清楚有部门入口和电话，但不把页面做成宣传栏，而是把政策转成办理路径。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这一页要稍微科技感重一点。用四层架构讲清楚：不是大模型套壳，而是数据、知识、推理、应用的完整工程体系。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讲壁垒：别人只有聊天记录，我们有可管理的本体数据。越用越懂本地农业，越用越能服务治理和经营。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别把 RLM 讲成论文名词。讲成一种工作方式：模型不急着答，而是递归检查证据，减少胡说和固定话术。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这页要诚实展示实测。说明中文问题正常传入，llm_used 为 true，模型提供方是 KimiCliProvider。API Key 不出现在 PPT。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这里要商业风格重一点。不要只说功能，讲谁付费、为什么付费、怎么复制。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对比不要攻击竞品，讲差异。我们强在综合、落地、沉淀和县域化。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强调可交付，不只是 PPT。已有一键启动、迁移部署、卸载脚本、材料包和视频，能让评委看到产品化程度。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收尾要有气势：我们申请的不只是奖金，而是江苏句容试点场景和产业资源。强调项目已经能演示、能部署、能迭代。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新增页：把机会讲成市场和政策窗口，不只是产品功能。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讲网络效应：三类用户不是三套系统，而是同一个经营网络。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讲数据底座，不只会联网搜索，也能吸收本地资料和现场数据。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讲投资壁垒：Ontology 是县域农业知识资产的管理方式。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这里要讲“凭经验能干一户，沉淀规则能带一村”的意思。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RLM 讲通俗：像专家一样先查证，再下判断。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回应 IoT+ 和不同现场连接方式，强调能部署到真实农业现场。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明确盈利方案，价格带要保守可信。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投资人会关心增长路径，这页讲飞轮和时间表。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这页给投资和评审看差异，不攻击竞品，只讲组合优势。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强调可交付，一键启动、可信电脑、卸载脚本和硬件适配。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最后收口：申请试点场景、赛事支持、产业资源对接和投资沟通。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e4dd274cb4d6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6ef643a04f4412d" /><Relationship Type="http://schemas.openxmlformats.org/officeDocument/2006/relationships/slideLayout" Target="/ppt/slideLayouts/slideLayout2.xml" Id="Rb1055f2b960d40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055f2b960d40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15141508c94285" /><Relationship Type="http://schemas.openxmlformats.org/officeDocument/2006/relationships/image" Target="/ppt/media/image.png" Id="R875464854e6e4614" /><Relationship Type="http://schemas.openxmlformats.org/officeDocument/2006/relationships/notesSlide" Target="/ppt/notesSlides/notesSlide1.xml" Id="Rceb4504c8a7043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ce1363476b4207" /><Relationship Type="http://schemas.openxmlformats.org/officeDocument/2006/relationships/image" Target="/ppt/media/image2.png" Id="R38b042feb88e487d" /><Relationship Type="http://schemas.openxmlformats.org/officeDocument/2006/relationships/image" Target="/ppt/media/image3.png" Id="Ra5e031829205457a" /><Relationship Type="http://schemas.openxmlformats.org/officeDocument/2006/relationships/notesSlide" Target="/ppt/notesSlides/notesSlide2.xml" Id="R4c1be4ea01f545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60a6aa79a64c2e" /><Relationship Type="http://schemas.openxmlformats.org/officeDocument/2006/relationships/notesSlide" Target="/ppt/notesSlides/notesSlide3.xml" Id="Ra987d5c56ebb44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448221f315421d" /><Relationship Type="http://schemas.openxmlformats.org/officeDocument/2006/relationships/image" Target="/ppt/media/image4.png" Id="R8c7d94e03551483a" /><Relationship Type="http://schemas.openxmlformats.org/officeDocument/2006/relationships/notesSlide" Target="/ppt/notesSlides/notesSlide4.xml" Id="R15dc7b5c896648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6a49dd90dc4fea" /><Relationship Type="http://schemas.openxmlformats.org/officeDocument/2006/relationships/notesSlide" Target="/ppt/notesSlides/notesSlide5.xml" Id="R607f4226594c44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8c7f5b51f74a38" /><Relationship Type="http://schemas.openxmlformats.org/officeDocument/2006/relationships/image" Target="/ppt/media/image5.png" Id="R2aeeeac4d7e14eed" /><Relationship Type="http://schemas.openxmlformats.org/officeDocument/2006/relationships/image" Target="/ppt/media/image6.png" Id="Rc6e21677f3494e43" /><Relationship Type="http://schemas.openxmlformats.org/officeDocument/2006/relationships/notesSlide" Target="/ppt/notesSlides/notesSlide6.xml" Id="R0465fadee43742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b737159da7446f" /><Relationship Type="http://schemas.openxmlformats.org/officeDocument/2006/relationships/image" Target="/ppt/media/image7.png" Id="R06c01f1ec9394493" /><Relationship Type="http://schemas.openxmlformats.org/officeDocument/2006/relationships/image" Target="/ppt/media/image8.png" Id="R0f258051dfac49e8" /><Relationship Type="http://schemas.openxmlformats.org/officeDocument/2006/relationships/image" Target="/ppt/media/image9.png" Id="R59a2027a6b6c4204" /><Relationship Type="http://schemas.openxmlformats.org/officeDocument/2006/relationships/notesSlide" Target="/ppt/notesSlides/notesSlide7.xml" Id="Re6b7e514fa6141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e724bf963f4dbc" /><Relationship Type="http://schemas.openxmlformats.org/officeDocument/2006/relationships/image" Target="/ppt/media/image10.png" Id="R5c3e36bfdcb04e90" /><Relationship Type="http://schemas.openxmlformats.org/officeDocument/2006/relationships/image" Target="/ppt/media/image11.png" Id="R8fd551bf6c494668" /><Relationship Type="http://schemas.openxmlformats.org/officeDocument/2006/relationships/notesSlide" Target="/ppt/notesSlides/notesSlide8.xml" Id="R14a9725cca4c44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0ed38b68074046" /><Relationship Type="http://schemas.openxmlformats.org/officeDocument/2006/relationships/image" Target="/ppt/media/image12.png" Id="R66f9d1eaa24d411f" /><Relationship Type="http://schemas.openxmlformats.org/officeDocument/2006/relationships/image" Target="/ppt/media/image13.png" Id="R457ca6deb5354576" /><Relationship Type="http://schemas.openxmlformats.org/officeDocument/2006/relationships/notesSlide" Target="/ppt/notesSlides/notesSlide9.xml" Id="Rf0b8d4401aee4c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389e74d1a54db7" /><Relationship Type="http://schemas.openxmlformats.org/officeDocument/2006/relationships/image" Target="/ppt/media/image14.png" Id="Raaa68eba72f54ac1" /><Relationship Type="http://schemas.openxmlformats.org/officeDocument/2006/relationships/image" Target="/ppt/media/image15.png" Id="R686bd89efe5843d5" /><Relationship Type="http://schemas.openxmlformats.org/officeDocument/2006/relationships/notesSlide" Target="/ppt/notesSlides/notesSlide10.xml" Id="Rcbf8ba96da1f4b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25d3899d9645c8" /><Relationship Type="http://schemas.openxmlformats.org/officeDocument/2006/relationships/notesSlide" Target="/ppt/notesSlides/notesSlide11.xml" Id="R3c03cade54da48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7a7bfec9184e34" /><Relationship Type="http://schemas.openxmlformats.org/officeDocument/2006/relationships/notesSlide" Target="/ppt/notesSlides/notesSlide12.xml" Id="Rd51310f9057145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5c5abe7f234028" /><Relationship Type="http://schemas.openxmlformats.org/officeDocument/2006/relationships/notesSlide" Target="/ppt/notesSlides/notesSlide13.xml" Id="R7777e5fc2a944e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d0511e908d454a" /><Relationship Type="http://schemas.openxmlformats.org/officeDocument/2006/relationships/image" Target="/ppt/media/image16.png" Id="Rae840c85ce9e438f" /><Relationship Type="http://schemas.openxmlformats.org/officeDocument/2006/relationships/notesSlide" Target="/ppt/notesSlides/notesSlide14.xml" Id="Rc10023d1783248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f3cdaaff4c4acf" /><Relationship Type="http://schemas.openxmlformats.org/officeDocument/2006/relationships/notesSlide" Target="/ppt/notesSlides/notesSlide15.xml" Id="R8843ac2482f74e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8074df290a4709" /><Relationship Type="http://schemas.openxmlformats.org/officeDocument/2006/relationships/notesSlide" Target="/ppt/notesSlides/notesSlide16.xml" Id="R4cd66551934a46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db5b1799e34c1c" /><Relationship Type="http://schemas.openxmlformats.org/officeDocument/2006/relationships/notesSlide" Target="/ppt/notesSlides/notesSlide17.xml" Id="Rc7083768758247b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1f0a28456b40bb" /><Relationship Type="http://schemas.openxmlformats.org/officeDocument/2006/relationships/image" Target="/ppt/media/image17.png" Id="R8fc44451daa94278" /><Relationship Type="http://schemas.openxmlformats.org/officeDocument/2006/relationships/notesSlide" Target="/ppt/notesSlides/notesSlide18.xml" Id="R697b22616beb4c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da3fd4053b4909" /><Relationship Type="http://schemas.openxmlformats.org/officeDocument/2006/relationships/notesSlide" Target="/ppt/notesSlides/notesSlide19.xml" Id="R571b8cd8cd1244a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8721fb8e454d36" /><Relationship Type="http://schemas.openxmlformats.org/officeDocument/2006/relationships/notesSlide" Target="/ppt/notesSlides/notesSlide20.xml" Id="Ra473ae90f2fa418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11721138d94170" /><Relationship Type="http://schemas.openxmlformats.org/officeDocument/2006/relationships/notesSlide" Target="/ppt/notesSlides/notesSlide21.xml" Id="R5baf100383d1450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2723574abd429f" /><Relationship Type="http://schemas.openxmlformats.org/officeDocument/2006/relationships/notesSlide" Target="/ppt/notesSlides/notesSlide22.xml" Id="Rbae8f5a2da9148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a28aa983d24f6b" /><Relationship Type="http://schemas.openxmlformats.org/officeDocument/2006/relationships/notesSlide" Target="/ppt/notesSlides/notesSlide23.xml" Id="Rb1fca0a04715484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27aeb562734f92" /><Relationship Type="http://schemas.openxmlformats.org/officeDocument/2006/relationships/notesSlide" Target="/ppt/notesSlides/notesSlide24.xml" Id="R26401a6a8cc54b4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34ade56c5e4609" /><Relationship Type="http://schemas.openxmlformats.org/officeDocument/2006/relationships/notesSlide" Target="/ppt/notesSlides/notesSlide25.xml" Id="Rbd03cb85bf4a48b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ed5654186645eb" /><Relationship Type="http://schemas.openxmlformats.org/officeDocument/2006/relationships/notesSlide" Target="/ppt/notesSlides/notesSlide26.xml" Id="Re39bec9f42a9481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ba3811cc8c441f" /><Relationship Type="http://schemas.openxmlformats.org/officeDocument/2006/relationships/notesSlide" Target="/ppt/notesSlides/notesSlide27.xml" Id="R67855541e36a410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3e3632ad9f4022" /><Relationship Type="http://schemas.openxmlformats.org/officeDocument/2006/relationships/notesSlide" Target="/ppt/notesSlides/notesSlide28.xml" Id="R7eda9e7e0a8f4f3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0f033fbfe043c5" /><Relationship Type="http://schemas.openxmlformats.org/officeDocument/2006/relationships/notesSlide" Target="/ppt/notesSlides/notesSlide29.xml" Id="R93b1fb2809984ee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b992ac80b84270" /><Relationship Type="http://schemas.openxmlformats.org/officeDocument/2006/relationships/image" Target="/ppt/media/image18.png" Id="Rebf10288690a45e9" /><Relationship Type="http://schemas.openxmlformats.org/officeDocument/2006/relationships/notesSlide" Target="/ppt/notesSlides/notesSlide30.xml" Id="Rabef1c60656a48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DB74130-A4F4-4B7F-AB30-83A48139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3659A-72E4-48A5-B7EA-346F2C55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6D14E-A680-46B9-9252-45DCBED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17176-F6E7-41DD-939F-7ECCF9CD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A0DA8-A75D-4DE0-9957-0B21F7E5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E804E-B413-412F-8575-558B60D7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2E348-744E-45BF-B927-A83D09A6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CB985-6F2A-47FF-BD3E-8246E3DE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45234-8D36-470F-BB9B-C13EC7DC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53EB8-721F-47FC-9582-EA51B682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B8C7E-431E-4C25-AA0A-6D88CD19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42C81-BDB1-4486-A1E7-E89B03C0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4C2ED-3B77-4201-84F0-A064C21A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B6DF2-0DBA-4C8C-B3CF-1E7329FE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7681E-A5EE-4A94-AE2D-413F0F46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F961F-A4EB-4157-B38A-966105A6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F5273-9F36-4CBF-BDD5-01272512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80BDC-1E7C-43FF-8F4B-68BF6156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D7DB9-D554-454D-AC0E-E92B721B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EE2FD-5E5A-455D-92B8-F0D35665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F7FA5-338F-4E41-B7CB-2BA55DE3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B6125-10D0-4304-919B-2BAD0B0E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4077AA-CD10-40E2-808F-D6AAA782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AD5D2A-DC09-4B30-9540-C8785912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BA17A1-744E-4F7D-9370-D26171CC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6F3B52-46E5-4BBD-821E-FE8676DC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63F56-E26A-4242-9178-F326A46F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913F90-73E7-47DE-B447-33B1968D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C34888-9BCA-46E0-8786-1C255C5E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0EF961-5142-4B6F-871C-41F25F4E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90E30F-CBD4-4F68-BDD9-5725E7C9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2B60E5-D12B-4F44-913D-BFBB6EEB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FCD0A1-F1AF-4913-87EB-C63AAD91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6C58EE-7F0F-4F68-8243-9BA407D5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10594F-E2AE-412A-8400-5DA76C43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93A179-5DE7-4267-A53C-4D7442E3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0A9B8A-AAE6-475A-B05F-261CB45D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D12BA8-7095-4859-B8BE-68ADB401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10580F-ED85-4BC8-AD56-4FE9CFE0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DED638-10B4-4327-89D3-3E5B7B9E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0E226D-5C31-4837-A64C-58F3DAEE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C02C7F-45FF-41C8-9588-3B259D4F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96C853-768B-4C71-A4FF-6700C56A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827DA7-3104-4051-8798-3D2695AE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ED3631-4BC9-4B13-BEA0-136211A9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F6ED59-5D55-42EB-AFA8-CF385FD9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AB08B4-A010-4509-9314-A6508592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BA28B1-B7C7-4DDE-8FF4-35C8B6C4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E6B5A8"/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AgriKB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8915BD-8EC4-4FDA-919D-ED289DB1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23900"/>
            <a:ext cx="533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452F"/>
                </a:solidFill>
                <a:latin typeface="KaiTi"/>
                <a:ea typeface="KaiTi"/>
                <a:cs typeface="KaiTi"/>
              </a:defRPr>
            </a:pPr>
            <a:r>
              <a:rPr sz="3600" b="1">
                <a:solidFill>
                  <a:srgbClr val="12452F"/>
                </a:solidFill>
                <a:latin typeface="KaiTi"/>
                <a:ea typeface="KaiTi"/>
                <a:cs typeface="KaiTi"/>
              </a:rPr>
              <a:t>数智新农人</a:t>
            </a:r>
          </a:p>
          <a:p xmlns:a="http://schemas.openxmlformats.org/drawingml/2006/main">
            <a:pPr algn="l">
              <a:defRPr sz="3600" b="1">
                <a:solidFill>
                  <a:srgbClr val="12452F"/>
                </a:solidFill>
                <a:latin typeface="KaiTi"/>
                <a:ea typeface="KaiTi"/>
                <a:cs typeface="KaiTi"/>
              </a:defRPr>
            </a:pPr>
            <a:r>
              <a:rPr sz="3600" b="1">
                <a:solidFill>
                  <a:srgbClr val="12452F"/>
                </a:solidFill>
                <a:latin typeface="KaiTi"/>
                <a:ea typeface="KaiTi"/>
                <a:cs typeface="KaiTi"/>
              </a:rPr>
              <a:t>经营中枢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E2A053-1946-4FCC-ABC3-F840EF49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把政策、天气、行情、收购、物流和作物知识，变成今天能执行的经营判断。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D52C27-F0EC-4C82-B7AD-26331684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26704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C7EC43-126A-4856-BFB7-0065156E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数智信息技术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629371-AC71-401B-A998-D437811C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765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B47A1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9D918A-E4D1-49EA-BFEF-101347C5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4322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新农人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ADAB9A-8C85-4861-9B81-4EEE5A50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765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38679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C314A6-B7A6-4C7C-85D9-B2130611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432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江苏句容样板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ECD7C3-0C8D-4592-A370-2B224A2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F0192D-145E-4BB7-BC1F-FEEC03B5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30页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82227F-86F2-47A0-9A87-37678EA0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路演主线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1ABD83-02E3-4593-9454-7F2D45F9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338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1D88EF5-2B02-4841-9039-35793F07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13张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04CD30-BA66-48F7-829A-D8349C90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291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GUI实测截图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89DF60-EAA8-4501-9EF4-F4BEF898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338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52924F-B376-4A7E-BB54-822E4F13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481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1条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B45D94A-D4D6-4FD8-96ED-F22A0207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291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后台实测视频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29B018-B835-4CAE-9405-8B6C6CD7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619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E4320A5-8C05-4C16-8388-39006C07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DCF46ED-E4F0-4927-9330-4AAD246C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584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一句话定位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42D12F-CB24-487D-885F-F22FDD22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584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县域农业经营的 AI 中枢：农民少操作，农业局可治理，企业能对接，项目可复制。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464854e6e4614"/>
          <a:srcRect xmlns:a="http://schemas.openxmlformats.org/drawingml/2006/main" l="9774" t="0" r="97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857250"/>
            <a:ext cx="4000500" cy="4095750"/>
          </a:xfrm>
          <a:prstGeom xmlns:a="http://schemas.openxmlformats.org/drawingml/2006/main" prst="rect">
            <a:avLst/>
          </a:prstGeom>
        </p:spPr>
      </p:pic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E1887E6-912F-4C92-9F0A-85DF7769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62550"/>
            <a:ext cx="335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917496-38A4-4C60-BA0E-52D1BDF4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625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7C5E24-0120-4BB4-BF97-AE01FB44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959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路演目标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48B9354-612C-4E29-A9F6-216D8CF2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61975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以“数智信息 × 新农人”双赛道融合，冲击一等奖与落地试点。</a:t>
            </a:r>
          </a:p>
        </p:txBody>
      </p:sp>
    </p:spTree>
    <p:extLst>
      <p:ext uri="{BB962C8B-B14F-4D97-AF65-F5344CB8AC3E}">
        <p14:creationId xmlns:p14="http://schemas.microsoft.com/office/powerpoint/2010/main" val="1120406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CFCA56D-D4E1-41A5-A7F3-026BD507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2A108-BD0D-4C02-8E1C-65297A78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3E4F7-6DA7-4C2E-BECE-7B8700F6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C8D3E-48DA-444F-8B48-626BBE72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60392-551B-4B67-AE15-7FDA7D26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3F2CB-664E-4B58-B985-9C48F33B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0D818-A7CF-4700-AB1B-EA68C2BC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0B46A-67B4-438C-9EC3-62254A41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32518-A38B-4CDB-A95F-C71C2D96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711C0-0142-4149-90DC-701393D1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D70D1-63D2-4C34-9CFF-1FACDE55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0D9BC-91AA-4A34-834A-20EF923B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9F7AB-89B7-4DE8-ACE7-F2218D9D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13F71-E271-42E1-B1D8-2D03DBDA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9873D-986A-4B83-AA92-6B0D57C9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8708A-4EFF-456A-B93A-BD87239E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BD770-984E-47BC-98C4-0ED89601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6549D-AD64-4A59-9F24-D621AEE5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D940B-2882-42BB-8886-9B9F6766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B1A7D-2007-49CE-ABCD-C715579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CA8EB-CCCB-411D-84C2-E7FE9AF4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4372ED-67D3-47C3-8DF6-1CA4EE6C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D0D91-643E-46FC-9324-A11CB9BF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E5A385-6FF4-4535-B529-5EA192DF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3EA4E-10EE-4992-8A5B-1BE09CC7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9CD7A3-C338-41E6-8D7C-8B07E08E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D6722D-F149-4849-B9D8-2443F53D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37519C-47FA-4EAF-86F3-594A0654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9F57B6-086B-4F4E-B3D2-4A05A2A0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79D9A8-0CD5-4AD3-93A3-5EAB5A24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266BEA-6D19-4953-BF75-D80B71E2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FF5342-CF9D-4423-BC6D-E37BCE6C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0E9BA5-C229-4BFC-B52F-AC29E84B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8E2A9E-98C8-45E7-826C-D8CFB388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F3B146-80D3-4093-825E-448DB9A6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A826D3-C63C-4499-9469-64D1973D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CBF9CE-D82E-49A5-A030-70C957AD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F86E2A-7C4F-438C-807C-50BD45A5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A22BBE-5701-4F9C-9BBD-D358392B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251B2A-1636-4DDA-9143-39EE23BC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6129A3-FC3E-48E5-B90C-BC729B21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52A7E8-01EA-4296-86E0-A35EF17D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152D8E-0B37-4FB0-A780-968A2995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878E8D-D172-4825-A150-4FF0B0EF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883B4D-5C7B-47D3-A91E-1935A7F1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B138DE-C1E8-4592-B242-9BD2C6E0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A1FAC1-B970-4D61-8A26-3E1796D1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07E99F-3024-490B-816C-3B9BABBC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比赛文件怎么要求，我们就怎么落地。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8D37EF-E1D9-40E9-A37B-144627F1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江苏句容“福地青年英才”创业大赛强调科技、人才、农业项目一体化；项目天然卡位数智信息技术 × 新农人。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E9B0C8-622C-4D98-BDA2-088C32A4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2381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1677F4-6A1C-4668-93CC-53BB344B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61C7A5-C94E-46BE-9042-17EFD14D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数智信息技术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56FB00-EECD-47A0-A1DF-F38FEEF5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038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大数据、物联网、算法、数字平台、人工智能+，对应平台底层能力。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E48314-450B-4A32-9DB6-29ACF433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2381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4287F0-B732-4DA6-8F13-E0EC5962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E5A07C-935A-475C-AE3F-4AA4708F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097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新农人赛道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C27ABD-4336-45A1-AE70-8A74876C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33600"/>
            <a:ext cx="2038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现代种养殖、乡村数字经济、农业社会化服务，正是产品服务对象。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0B5FADC-12AA-4D1B-A0B0-F5F3601D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2381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628439-2E7D-4F7C-8D5B-CD9E0E46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436"/>
          </a:solidFill>
          <a:ln xmlns:a="http://schemas.openxmlformats.org/drawingml/2006/main" w="0">
            <a:solidFill>
              <a:srgbClr val="B0443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74BF79-E598-41C2-8B1A-956E1198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政策扶持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B1367F5-14B0-4E30-9B49-A636F1F8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2038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一等奖扶持资金 20 万元，后续可衔接人才与产业政策。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1C167E-8D42-4A6F-B917-350E7F75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953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CA0BF2-1BFA-49C9-98D3-B372DD3B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57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8F814E8-608A-4BBC-9D08-335E5524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461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评审语言转成产品语言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3F73365-391E-4756-AA11-3495C868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4610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比赛通知强调科技、人才、农业项目一体化招商引智、孵化培育、融合发展。AgriKB 对应的是“AI + 农业知识图谱 + 县域产业服务”的可落地平台，而不是单点工具。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4BE2748-C3A1-4162-9A6E-1BF983DD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FF8A7D-A314-418B-A4CA-402A9037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B39A4E-F143-4323-B103-5049EA45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461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政策红利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C31ED5-95B3-4B9A-BBE3-3D4F7748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一等奖 20 万元扶持资金，并可衔接“金山英才·福地英才专项”等后续支持。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C6D973B-E7B0-4175-ACA2-2A3855AD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2381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042feb88e487d"/>
          <a:stretch xmlns:a="http://schemas.openxmlformats.org/drawingml/2006/main"/>
        </p:blipFill>
        <p:spPr>
          <a:xfrm xmlns:a="http://schemas.openxmlformats.org/drawingml/2006/main">
            <a:off x="6210300" y="1793855"/>
            <a:ext cx="2152650" cy="3041690"/>
          </a:xfrm>
          <a:prstGeom xmlns:a="http://schemas.openxmlformats.org/drawingml/2006/main" prst="rect">
            <a:avLst/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618091-114E-4F8F-AB0D-1063B244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2445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通知首页：主题与主办单位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D61E034-7374-4D49-8040-C51751D4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66850"/>
            <a:ext cx="2381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031829205457a"/>
          <a:stretch xmlns:a="http://schemas.openxmlformats.org/drawingml/2006/main"/>
        </p:blipFill>
        <p:spPr>
          <a:xfrm xmlns:a="http://schemas.openxmlformats.org/drawingml/2006/main">
            <a:off x="8877300" y="1793855"/>
            <a:ext cx="2152650" cy="3041690"/>
          </a:xfrm>
          <a:prstGeom xmlns:a="http://schemas.openxmlformats.org/drawingml/2006/main" prst="rect">
            <a:avLst/>
          </a:prstGeom>
        </p:spPr>
      </p:pic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C44BCD8-9CB8-4A58-990D-CC6FC3A9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2445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赛道页：数智信息与新农人</a:t>
            </a:r>
          </a:p>
        </p:txBody>
      </p:sp>
    </p:spTree>
    <p:extLst>
      <p:ext uri="{BB962C8B-B14F-4D97-AF65-F5344CB8AC3E}">
        <p14:creationId xmlns:p14="http://schemas.microsoft.com/office/powerpoint/2010/main" val="19196826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A696F57-3FBA-432C-A8E1-AA93AF22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02C66-C678-4B22-9755-16804BB8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85C96-5C4F-4766-922D-15A569E9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0591D-50F4-4444-8DD3-D4344CC2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7F447-A2EE-4DBC-B852-34C5C20C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3973B-0130-4995-BA67-B32C1FC0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AD147-6C6E-404F-87C9-F7952639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377BC-F81C-4DCB-9BC5-2D25679E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EDC3F-2BBD-4BA6-8378-9696C425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68246-1B68-46E3-BC8D-F3F5B6B0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4D678-917C-47C7-B3C3-6C049DC2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22430-418E-4194-AE79-988994C6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1BEFA-1C17-4B62-BF72-9562E9A9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A01C1-AF8E-4B8D-A57C-3CC8928C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9F188-A1F6-42DC-BC10-71D24A18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C5AB5-0341-4500-85F9-15C1BA76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A59BF-C210-465F-9268-005279A2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FFA82-231A-48A6-BA90-E50680FE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22714-1E7D-4EC7-9658-8CD43391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9BD5B-4D99-4E29-AEB6-EE4B8806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06C59D-4D38-410A-9EA7-B1BCB027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5D18B3-FAC3-4D6F-AF40-520D7C73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4F2992-73F2-45D5-B601-0629140C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5B2CB-3A00-4FF2-873F-22461A98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AC8B64-F85F-4DBB-AC4B-30B13891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5A9057-4E24-483E-843C-3746A24F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3D86C7-9F1F-408B-852F-25E0FB21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3F162-8952-4EAB-A3C7-9E4841D3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C87B27-27B3-4CA8-8D40-26BE6609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E6A44C-0F45-4137-A301-711C8C50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7A5BE7-78A9-4A09-B7A7-3BABE06A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0AC8C1-400E-4A18-B57F-22568E56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5E8FE2-1014-4D29-871E-D561C071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889321-AB4B-4619-86E4-0153649D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1A69D4-7010-4C77-BA1A-79BD6E29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628E20-B7DB-483F-A27B-0B923B44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86B800-CEEC-4D4D-8D57-FFFB7238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BAEBA9-C59D-4FAB-9CB3-C0F4A6F8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A6DB08-EDD3-4050-ACDA-E4C3AE44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259BBB-CFBF-483B-BF0A-9017FB24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FA26E0-26EE-4A27-BC9C-34CCDE42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950A25-72E0-4C43-849D-A3C34F29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7DEEDE-4B70-4348-8A51-9FBE75B4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76F580-EC2A-4DD7-B022-215ECB69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D9BE74-F1D5-487C-BDAA-72A92B76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489232-E082-40EA-85DA-147E3770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412511-E3BB-48FB-8DCE-688C14F7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7F37F2-35A6-4C1C-9773-1BE26B14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县域农业不是缺信息，而是信息太散、判断太慢。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AE7E91-C216-4A99-A0DB-09BC22DD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农民、农业局和企业看到的是不同系统、不同口径、不同时间的信息，很难形成当天可执行动作。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F609CE-AEA3-4A3A-9C2B-8CE11729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0451A3-AA38-4945-9C69-C11D1043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7DB520-572F-45D2-ADF5-E64103EB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农户痛点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9A002B-AA58-4D53-B312-64CF7C28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000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天气、采收、行情、补贴、收购渠道分散，临时决策靠经验和微信群。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542BDD-14CC-4FAA-802D-FD3EE4E2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4DD62A-B37F-4340-81C4-BF8491C8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98"/>
          </a:solidFill>
          <a:ln xmlns:a="http://schemas.openxmlformats.org/drawingml/2006/main" w="0">
            <a:solidFill>
              <a:srgbClr val="38679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A33E9F-49F0-4ACE-B635-78C78589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85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农业局痛点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8010A3-C0AB-450F-8BB9-4A854701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09800"/>
            <a:ext cx="2000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政策宣传、产业监测、主体服务和项目材料难以连成闭环。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AE0D02-7208-4611-968E-CA41F2E5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89C29C-E811-4F06-B055-254E7A8D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0039F1-E2D4-4F33-9216-49F15392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企业痛点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0283C4-E848-4C82-A988-70A9950F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2000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优质货源、分级标准、冷链路线和收购计划难以及时匹配。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FA09EF-433B-4229-8F5B-B8385E3B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C497CF0-4D76-4F17-8F7E-650818BB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436"/>
          </a:solidFill>
          <a:ln xmlns:a="http://schemas.openxmlformats.org/drawingml/2006/main" w="0">
            <a:solidFill>
              <a:srgbClr val="B0443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5543CCC-579D-46D5-84FC-A6E373A8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技术痛点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F3DE28A-F392-42B3-9CF9-94F132AF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2000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通用模型会讲概念，但缺少本地证据、本体组织和可审计规则沉淀。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BB71E0D-4134-4E42-8F62-90867516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3F56E4-F4F1-44FE-9111-821DDEA5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8B3D64-99F2-4FD6-A0F5-8321C653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62500"/>
            <a:ext cx="956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产品破局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0FDA106-DA02-46D6-9BE1-9CBB2C55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86350"/>
            <a:ext cx="956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把碎片化信息整理成“一个问题、一份经营判断、一组可执行动作、一条证据链”。前台只呈现清晰建议，后台沉淀成本体、规则和经验。</a:t>
            </a:r>
          </a:p>
        </p:txBody>
      </p:sp>
    </p:spTree>
    <p:extLst>
      <p:ext uri="{BB962C8B-B14F-4D97-AF65-F5344CB8AC3E}">
        <p14:creationId xmlns:p14="http://schemas.microsoft.com/office/powerpoint/2010/main" val="5228707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8C1143F-CE33-4248-B499-DF1A78D8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500AB-3C1C-4D96-B36D-5354B8DA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F104E-32CF-4F01-8644-00333836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F39E0-4604-4F17-AFF3-F82BD743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0DC32-60A1-4252-9670-0173F728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F5DFE-9E6C-4CBA-839A-2105692A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76153-91B7-4919-B246-13A21BBD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F9E48-E415-47CB-B3F4-5CAC82F3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2A8F2-9B71-4C2D-8B02-CA707C1B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1A1BC-C0CF-4F8F-9CF8-999B3A6E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06E0B-C925-4AE7-8D7A-D21D1BEB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84D45-25CF-48AC-B0A7-3DF2493E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6CD4C-E06B-494F-AA8B-B411B6E4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F15A4-CF6B-43F1-AF19-FAFBBCB4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C8B8D-4854-4306-8184-B34C2A4D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98789-ECAE-4A60-B2B0-834BD81D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4A09B-B57B-42F1-8018-A54A7BAE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BF156-5D6E-4ADC-8F2C-71E525F6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58B30-2820-45E1-BA31-EB767075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82B063-C639-4F56-9CA1-C015FAB6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013EC-8FC3-4F4E-8BE0-EDE8524C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8260F-640A-4704-BD4A-F196A86E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A7B66-97D1-4C3C-BFF4-97EDA629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F13016-0705-4EBD-A376-9355774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F22207-43E4-4821-B5E8-35D90161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0F9980-C526-4578-9F16-210B3547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ECC52B-4842-4E19-8A5C-86BAE7A0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F1F298-18E7-4A78-AF6D-E8C10C35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498B1B-EA47-4D61-9C08-77AF84CD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F12743-D15C-4750-AECF-4B21C39C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BBEA8F-D067-4B21-8412-C36946BF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5578C0-98CE-4E4A-B581-2C431F56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8E9960-B746-4A5E-B705-599F794D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1018AE-E918-4AFF-A669-219EE323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70814F-8A82-458C-9E4E-5D788BD4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01625A-E60B-42CE-AC8A-A27FC8D7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C966D0-75EB-4E1A-9C90-8E11CBB3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418EBC-CF8A-48E1-8D21-952893BE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B49B23-FD1C-4AA1-A001-B92A6E21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F90A57-143C-4807-BAEF-4850284D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88A3B1-7614-4C32-99CF-E26B0DF4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823BC0-D5FE-46ED-9D1F-24E2BC2E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9C2318-6610-44AA-9C17-C0110D70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0405E0-AF37-4138-AAB8-A0F20F4F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359340-2895-40FF-9893-C872D939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AC397C-8443-41DE-9551-6BCC2677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EFAF64-A8D2-4DBA-B248-08FF6D8E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0D0586-77ED-4CA6-BB9E-AFF6C7CA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前台像一个简单助手，后台是一套农业经营操作系统。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87928E-58B3-4CC2-9130-06339A7A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界面尽量少操作，关键入口清晰；复杂的检索、推理、证据链和规则沉淀放在后台。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d94e03551483a"/>
          <a:stretch xmlns:a="http://schemas.openxmlformats.org/drawingml/2006/main"/>
        </p:blipFill>
        <p:spPr>
          <a:xfrm xmlns:a="http://schemas.openxmlformats.org/drawingml/2006/main">
            <a:off x="1709499" y="1428750"/>
            <a:ext cx="4810601" cy="39624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336F1B-0EAC-4A6E-B483-14E06782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F34D04-FE64-466E-9418-E471519F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25BF23-7725-4B03-B61D-59942048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四个高频入口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2A53C5-DB7C-437B-BA31-9A9D05FE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今日安排、销售渠道、补贴申报、天气风险，让非专业用户从动作开始。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884E022-1B26-49A7-BC16-C598A966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E2AA63-590C-49AE-BE2C-123732E8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98"/>
          </a:solidFill>
          <a:ln xmlns:a="http://schemas.openxmlformats.org/drawingml/2006/main" w="0">
            <a:solidFill>
              <a:srgbClr val="38679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6328E8-6FE3-4A52-9202-74FC9BA0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悬浮问答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AAD350-B799-4614-8FC2-4DB21547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类似 ChatGPT 的居中输入框，可上传文件、回车发送、一键清空历史。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7F7D1F7-BBB2-4FDF-BB3F-DE654637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6F59B0-BF47-44F5-9804-7D44A2AF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9265827-9A47-467C-BC10-39E62905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双位置决策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D4D02F3-7A7A-4F65-BAAA-422902B4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产地与目标市场可输入或地图选择，联动天气、路线、物流和行情。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E5B806-8BD9-4294-9CEC-E8B809BB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0847AD-8890-4B75-9A2D-5A64E2B8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436"/>
          </a:solidFill>
          <a:ln xmlns:a="http://schemas.openxmlformats.org/drawingml/2006/main" w="0">
            <a:solidFill>
              <a:srgbClr val="B0443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DFCB1A-38FD-47B6-95F3-9E67FF26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证据默认隐藏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568451-A07B-4B86-AB27-6FD10B6F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958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农户先看结论；农业局、企业和评委可展开依据链与知识树。</a:t>
            </a:r>
          </a:p>
        </p:txBody>
      </p:sp>
    </p:spTree>
    <p:extLst>
      <p:ext uri="{BB962C8B-B14F-4D97-AF65-F5344CB8AC3E}">
        <p14:creationId xmlns:p14="http://schemas.microsoft.com/office/powerpoint/2010/main" val="7758585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AAD9570-6FE7-459E-8D81-A2F852BE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6AF8B-DAA3-49F8-9E79-F79EF958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A51FF-8387-4022-974D-0A620FA5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C5580-ABB8-48FB-B104-C23715C0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93C6D-EF42-41C8-9CB0-349E7521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DB95A-A755-4755-AD66-38F55AC3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D1BC2-8A86-4BF7-9E43-9A1BDA10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F4810-C46B-4FD9-BC20-DD239683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43467-7578-479C-8702-B477C390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64D93-352C-49B3-BAA6-E6F93F77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7D7F0-FADD-43B2-9A14-981F7EF3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78FC9-2283-4FD3-A55E-446C7A93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57FBF-79BB-44B0-8A4A-86E05B64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3CAA8-4960-4252-9536-733748D9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37150-6EF0-4663-85E6-4DFC162B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9A09C-609D-479E-9304-2924F798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4576A-0BC7-41C7-8007-6DDE30BF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C2F73-F5FB-40D4-B9BF-13B43BC6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A4AE5-3890-4A4E-9731-108C3BDC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B5056A-1B72-4494-BDC4-E44C5A33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53B7A-1910-4B91-A865-0E41B936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D4ED82-5733-49DA-A1AD-F90C68EC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94EDF8-A93D-4B0E-BDB2-D4518A07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7935F-8FAA-41C2-B90B-74CF8020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DDD401-249C-4DB7-9202-9C359B12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C3A0C1-7416-4E79-A0D0-C75C0B37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1E1616-F9A1-410A-B870-1C906F17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5467E4-6529-4485-8806-E10E6D86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478747-AA2B-46D8-9A9A-50A8AC21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5CC903-E5EA-4A98-B3B9-4AE4DA5A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2B9634-3743-4133-BB24-D2FE964A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733419-5F9B-46C0-A0B4-71FBA137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0B741E-2F9C-475F-BE70-6ED0E7E5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4BA377-C436-4D9B-AE9D-7E975577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96F13F-7101-4330-833A-2FADBB06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C981F9-4ACD-455E-A0C1-2CA5AF24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99B92F-56C3-4963-A1F1-FDFFEB0F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0BE530-7AB3-42CA-8D00-D966E043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DD4741-24B7-406F-806B-73078EAD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89C762-8849-4066-A79A-A885CA63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E1530D-D636-498A-B912-4BF8B95F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1F7C00-8177-486C-A796-63A13BD0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D9815B-127F-4E95-B09C-CC324A34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45FFE6-C790-4DC9-BDF6-869C74BA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9F98EA-3140-4327-B2D5-99483C6E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4858E9-6B09-4BBC-9CF4-038DDA5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348B0C-2B89-47BA-851C-4F11CE81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B1470A-EB58-4447-A1E8-CF494E61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从一句问题，到一张当天经营单。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1A7CA2-4982-4593-9995-F07C3832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回答不堆概念，而是按“先做什么、为什么、找谁、注意什么”输出。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A91513-E704-4542-A71E-E893F72C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11430">
            <a:solidFill>
              <a:srgbClr val="26704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D95810-1816-4A92-876B-5F32AC75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544CC4-1251-46B1-B226-C1E84406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提出问题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C31F8E-90C8-45D5-9A46-7E0CD701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草莓能不能卖、天气有没有风险、能不能申报。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3361B2-E052-4BC2-A8B5-0C7131C7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AB939B-C613-4226-91B0-0B57CA5C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38679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7BF363-9D65-4977-90AC-689CCDD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717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AE591D-6E3E-4B12-988B-BED803DA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908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聚合证据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E9B84C4-A0C1-43D4-92CC-75C0A1DF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718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知识库、政策、气象、行情、路线和网页来源。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17EC313-E540-44AF-A20C-EA2881B3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670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33D5AA-F8E7-4824-9996-1F6CC09E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11430">
            <a:solidFill>
              <a:srgbClr val="B47A1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C3A6D1-0C8B-4ED6-9EDA-A23A9AED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717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A5C2A1-6DB8-4BC0-89E3-4ED437CB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908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模型判断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49F696-4912-4215-A508-875735FD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718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新农人助手综合证据，给出经营建议。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DEBF76-4893-43CF-B88D-85DC22CF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D25F38-7241-4568-83D8-FF1792AA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11430">
            <a:solidFill>
              <a:srgbClr val="B0443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68C44F-73D7-471E-8E7B-63E989F0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577655-BE22-403D-81B9-3BE8917C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动作落地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81231EF-0315-4F49-A5FB-848C53B3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采收、包装、渠道、补贴、物流和电话入口。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AC21702-18E8-40E8-90D4-00EC0412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670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F173672-DD74-4188-AD51-1BDA7DBD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002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6704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CE0F5F-DE1B-4953-8B05-D05D1746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717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21F05AE-5A1D-40A7-AE82-5F9ADE66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908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经验沉淀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1DF072A-1F83-4F22-97A6-C02C6F68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718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规则、品类、证据链、会话图谱持续积累。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2DED2C7-FEF1-45AC-A5D5-330ADF37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971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AA83189-CB6C-4157-A1D6-A3992011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EF5F7F-8583-439F-8D25-0FACDB14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57700"/>
            <a:ext cx="937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农民看到的不是技术名词，而是经营动作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5087568-D9BA-4410-86B1-D1080B3C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9372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先采哪一批、卖给哪个市场、是否要冷链、能不能申报、风险怎么避开。每次回答再把结果沉淀为经验规则，下一次同类问题更快、更稳。</a:t>
            </a:r>
          </a:p>
        </p:txBody>
      </p:sp>
    </p:spTree>
    <p:extLst>
      <p:ext uri="{BB962C8B-B14F-4D97-AF65-F5344CB8AC3E}">
        <p14:creationId xmlns:p14="http://schemas.microsoft.com/office/powerpoint/2010/main" val="160932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31C00F3-46DB-42ED-806F-07ED0B47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D6995-0CE3-458E-A108-9D5B1558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67745-2DDD-4FCB-A02C-C93E4033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19A7E-8E7A-40CA-BE4D-DE5F2AD0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E4BF3-CAB0-4124-9AC7-64833ED9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68F62-FCB4-4C80-9031-C08FEA1B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91406-A6E5-48D2-8C93-80F66D31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5DB5A-59DE-4324-87DB-27823EDE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93F4C-149B-4082-AC52-B015329A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A668E-1B28-4CC3-8C06-64F29B16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E1CBA-FE9B-4256-AAED-7583CC2D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44A3F-5D1C-446A-8819-F0CDB669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1A8D5-2E5C-49BB-AF55-94E10D4D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86F65-A504-41E7-B9DE-C2CED652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8231FA-311B-4225-9273-6D3A0862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21B77-322E-46BF-89F2-CAFB32C9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5C87E-8975-40FC-889E-37616404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3549B-DC63-4A08-B705-95B60BB2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F8391-BB4E-424B-92AE-EBC388A5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65D3E-509B-4815-8DA3-D695A4F3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6F815F-2CCF-4617-B664-461DAC7C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04EDC-49D2-4026-96F2-304360B1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A52ACE-3166-496B-BA4B-31D98415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AB896-A7AA-41E0-A3A7-F5065DDE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9BF17-04B2-406F-B956-27E9E16A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D2FE0B-9844-4951-8DF7-60FB1E1D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D100AE-E4CF-42B8-805A-6F48A79B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ABD2A4-7B12-4D4E-8860-B3636189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87F45F-9E3F-4455-88C8-791B0E57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7472FB-4E8E-459B-A8C9-A81D4D7C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8631FB-5A4A-4920-88D0-F98A6D54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816473-7B57-4A9E-927D-1C2D0C4A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0ECF9F-853F-4938-BCE5-93189A24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17B0C0-19CE-4932-9F19-AAE96A06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D844B2-4225-46A9-980D-42B9AC29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B4D78E-C901-4060-B169-517A72BF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715003-F21F-49D9-AB88-7930D63E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29F43D-BFDF-433F-AEB7-6FE4ED4F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0DD5A4-9ED9-40D0-9848-9BAD929F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513CAD-859C-48BE-A35A-A9E9B9AD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F3410F-5EDB-43B4-9ECA-2380A5B0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F8E010-CCD4-4B48-8BE7-3B2A63FD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D24ADD-7E66-44E9-842A-B12CA73B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6D09CD-F6AE-45BB-B454-730B9273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2459B1-6789-4850-AD4B-20B51298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070EC4-3C75-4FF5-9433-2E01594A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8AA847-DF99-448B-BA06-41709B6A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43DA0F-9FB7-42A0-8AC3-0ED55952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作物监测演示：从“看不懂图谱”到“看得懂利害关系”。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B83D11-536B-45A9-9261-8FAC88E2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以草莓大棚为例，把温湿度、光照、土壤、水肥和采收动作放在同一监测台。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78B162-B8C0-4B68-862E-3EEFCBA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5143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eeac4d7e14eed"/>
          <a:srcRect xmlns:a="http://schemas.openxmlformats.org/drawingml/2006/main" l="0" t="13061" r="0" b="130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562100"/>
            <a:ext cx="4914900" cy="299085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315A67-E150-4873-BBE2-F3642193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作物监测台：模拟大棚实时数据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E081EF-C61F-4D82-9D1D-A6BAEF89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47800"/>
            <a:ext cx="5143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21677f3494e43"/>
          <a:srcRect xmlns:a="http://schemas.openxmlformats.org/drawingml/2006/main" l="0" t="13061" r="0" b="130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562100"/>
            <a:ext cx="4914900" cy="299085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FFD4E1-61DA-4D97-91AA-4DC649C0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2915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监测详情：阈值、动作与 AI 建议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3A23BC-0033-4131-A219-E0E9719D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26704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77235C-2E94-4826-9A84-AE4CF5A5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006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传感器接入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931D6A-8A50-48EE-BD20-7C26393E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34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38679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8F7319-CAFA-458E-BAD5-7158EF5F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006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阈值达标判断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28E41F-103A-4D10-BACA-6D44223B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34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26704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E473E26-E715-4160-8117-B6B4CC4D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4006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AI 调整建议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17831A-3132-477B-A5D7-66CC57CE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34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38679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45888C0-E0F7-4030-B9B1-97582A8C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006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可导出沉淀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3914480-DB6A-42E2-A30D-F8856685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086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5134F7-3853-4A4D-8A59-438CC7E9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CC9E17C-DBD8-42AD-B6BB-4CE8785A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530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IoT+ 接入方式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9E2CDD3-E4B6-4FF7-8858-1A23B0B2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676900"/>
            <a:ext cx="2743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传感器、人工记录、公开天气和遥感数据均可进入同一监测台。</a:t>
            </a:r>
          </a:p>
        </p:txBody>
      </p:sp>
    </p:spTree>
    <p:extLst>
      <p:ext uri="{BB962C8B-B14F-4D97-AF65-F5344CB8AC3E}">
        <p14:creationId xmlns:p14="http://schemas.microsoft.com/office/powerpoint/2010/main" val="19727674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BC8E1BE-9444-4B79-9C78-51AEC8BB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CBED0-841F-4893-8563-B80098F2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41FC3-3A9B-46E8-85ED-6425BD54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6B3A0-1288-4F3C-8A8B-6B523E5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08CB8-33C7-46B5-B1E9-E84029D9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F4176-9D9B-4028-A284-B81310F7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C1248-598E-4CE3-B337-DA65C884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21F30-0941-4AAB-8B76-A0FAC00E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A8D53-F963-40AF-8794-1507C156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85211-7AAB-4DBC-A545-B7191502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B0A74-F569-4447-A6A7-5FCE6928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83BD4-C28B-4CF7-BF66-DD53DB50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8C3A1-5E7E-4FEE-BC1B-2BDBF066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E2FC7-9313-4EA7-B187-8F1C7C4D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DB4BA-B945-4724-A1E0-C8195364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C7FB5-C7AE-4958-9F1C-2FD900E7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B6F01-36E2-4A13-BC73-2EA22FF0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B3F6D-E20C-4563-98ED-CD1D3800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D8FB0-37BE-42FB-A672-0AD300BE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CDD51-1EC5-4BF0-90C8-1ACF723F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CA505-A7CD-4549-A4F5-930C21DF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2B48E-606D-498F-9B58-CD2F11A1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1AC2D9-6F1B-4982-8F4F-1FEE33D7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2608C1-6AF0-4769-B5A3-8BC77D0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625897-9290-4AA9-A40F-ED86AD57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567DBB-D06F-4624-B186-195ED84C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7CD9FB-C09C-4623-AA79-583DEB41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C42ED-EBCF-4ACD-81D5-6D88D7B2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8B90C5-E4B5-4886-8D92-8D674243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308EC0-CABE-4F2D-8384-2F26EC0C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BE8D3C-5933-4405-8BBE-FD7A6B19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32920B-E99F-4CC6-B56D-00169072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E6BB4F-5234-4BCF-963D-AA632C0D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F4A3BF-8608-4E5E-8538-85C13C82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819750-AFC2-4321-82DF-3CDCCC7B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CFF5DB-C3D7-4FAF-ABA5-9DC6408D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37D0DF-1086-42A2-A353-0A799CB2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0BCF08-3186-4AAD-9CD4-6B67A24B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ADBA42-6ECA-40DC-9303-65A6FC29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9420E0-1E99-4512-A1E6-64F17B1F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28519B-381C-4150-8E89-204B1B07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391983-7332-4BD4-B42F-E162815F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2B87BD-21F6-42AE-ADA5-168C2F01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B73FA6-BBE9-408A-A0EE-FF0B08F7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38F8D8-EE1E-4526-BD6C-775FF51B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B10D79-4144-4010-BF56-8BEF6F30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9495D8-B355-4C46-8C69-E616A691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CF9624-D741-4471-8042-AA8CB413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同一套底座，服务农户、农业局和企业三类角色。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55BEAA-593C-4B15-8016-7F1A709D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农户看当天经营，农业局看产业治理，企业看收购和溯源，三方共享同一证据口径。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A3B21D-25BF-4EAD-8550-02BDE8B4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3333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01f1ec9394493"/>
          <a:srcRect xmlns:a="http://schemas.openxmlformats.org/drawingml/2006/main" l="5836" t="0" r="58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581150"/>
            <a:ext cx="3105150" cy="289560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6F0269-7A14-459E-9EA2-F7659861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数智中台：农业局视角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7AE54D-3939-4C2B-8D5B-3A02FA95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66850"/>
            <a:ext cx="3333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58051dfac49e8"/>
          <a:srcRect xmlns:a="http://schemas.openxmlformats.org/drawingml/2006/main" l="5836" t="0" r="58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3900" y="1581150"/>
            <a:ext cx="3105150" cy="28956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A7CBFC-3080-4390-99DB-4F6BFB91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5295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质量溯源：批次证据链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969BA3-6968-4C24-8B21-CE8E462D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66850"/>
            <a:ext cx="3333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2027a6b6c4204"/>
          <a:srcRect xmlns:a="http://schemas.openxmlformats.org/drawingml/2006/main" l="5836" t="0" r="58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850" y="1581150"/>
            <a:ext cx="3105150" cy="289560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FB4751-9304-4E0C-BF3A-52CA3591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IoT 监测：现场联动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34D8F5-EB69-46E4-917E-DA62C732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38750"/>
            <a:ext cx="9639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D1F1E4-BE14-4641-8101-F3F8C7A6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3875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27114F-1AA0-4F59-B8CE-0AE33B2B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72100"/>
            <a:ext cx="929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从“看得见”到“管得住”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69A410-5726-47A2-A1B7-DF23A909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95950"/>
            <a:ext cx="929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同一套数据既能服务农户当天经营，也能服务农业局产业监测、质量追溯、政策兑现和项目评审。</a:t>
            </a:r>
          </a:p>
        </p:txBody>
      </p:sp>
    </p:spTree>
    <p:extLst>
      <p:ext uri="{BB962C8B-B14F-4D97-AF65-F5344CB8AC3E}">
        <p14:creationId xmlns:p14="http://schemas.microsoft.com/office/powerpoint/2010/main" val="4330797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119B13E-38D7-43ED-ACF4-B61A744B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9B16F-2475-4752-AF59-8E26A885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9D381-AB86-4674-8C34-BE6A4598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F2C1F-C2B6-4B9B-80AC-C3FE8EA8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7D300-8EEE-409E-B0B8-4935B76D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7283A-B6C3-440E-ADB2-FD130033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57CE4-0B09-4666-99EB-B8C2EE76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7D6D0-5F6F-4CE4-818E-EA59824D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BEE91-C0B3-46E4-827F-50224A1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319AF-A62A-4F96-A8CC-160D0887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E4224-650B-4462-AD84-B7EA8B97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A51C0-B47B-4CFF-93AE-59D36C9C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71B7F-0643-40B4-BAF6-C940B958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A51FA-B36F-4CE9-A717-18D2EBE6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55619-7830-4734-A3D7-580E78CE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DA6F9-9B4B-443C-8018-6D2E64C0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0B028-1ADA-4C70-98A0-DD39AF6E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4418F1-5634-4034-8C59-C83E9B68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06B2E-FD94-4F59-9F14-8F2045DE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EE611-C43A-4CA3-89ED-A44287ED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4EBB4-7613-4DE4-901F-899F2412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FF2334-82D6-49F4-8581-47907FB6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685698-8E6C-432E-B5D9-3CBA4A79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11351-9F15-4322-A621-DC750A08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EF4765-A90B-42DA-A9B9-9E512816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7A31AA-8EC8-4694-A7FA-BE70611D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3E077C-55C9-4B48-A790-FABC051A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2407E1-A1C5-48FD-BC7D-F5E01657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2C8D35-428A-48BE-AE12-9DFD6EBA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68ACFA-2C68-4BAE-9E2D-D8874179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9ED502-1803-4460-9046-06D6C354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123112-F012-4F7F-B248-71C203C3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3E5566-D581-43E0-864E-F1069F45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FD56F3-BCA6-48C4-97F6-0839D43B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54DAE1-1434-479F-A67C-12CF4B46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DD56D2-BBD2-49FB-96E6-4568B4A3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DC8848-5F0E-4434-9176-DCDE8EF0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32A888-6A4A-4B22-83C8-AEB2D1D8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C3BF69-CDF9-4EEC-9CFC-3F7ECB34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CE6DF2-9064-4EC7-BF34-C1604EB7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8D1899-C174-4C5B-B710-D5BC89CF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08E945-9167-4E67-9D58-5F00A910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8FF34E-D0DB-46E0-9015-4E95F839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B90FF6-5A12-4067-8228-03608C39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EF3C19-920B-4FBF-8334-C8B7AA74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43D6F6-3687-416F-80CD-79336986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20A330-42E9-44E9-AD2B-13691466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3701CC-3771-415B-BC05-19973803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资讯聚合像 UC 头条一样快，但只围绕农业与新农人。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75FD56-A077-4AFC-892C-B00524FC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每次展示六类，可下拉查看热度；来源可点开，AI 给趋势判断。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22E90C-92C4-414B-85E0-3E9C8966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143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e36bfdcb04e90"/>
          <a:srcRect xmlns:a="http://schemas.openxmlformats.org/drawingml/2006/main" l="0" t="9296" r="0" b="9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543050"/>
            <a:ext cx="4914900" cy="329565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462BC5-25FD-4866-AC29-727F06BE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六类头条：农业、科技、人才、招商、新媒体、政策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0B917C-6445-458B-85E6-7CFF169E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28750"/>
            <a:ext cx="5143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551bf6c494668"/>
          <a:srcRect xmlns:a="http://schemas.openxmlformats.org/drawingml/2006/main" l="0" t="9296" r="0" b="9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543050"/>
            <a:ext cx="4914900" cy="329565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17CDAE-F2F9-409E-BEF9-A2194988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资讯聚合：来源可点开，AI 做趋势判断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F50B6D-F5F6-4539-9498-33139ADF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43550"/>
            <a:ext cx="994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66BE44F-0996-40A3-9CEE-4B64FA1C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435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7592FF-8DB2-4440-BA55-1FC42F4D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76900"/>
            <a:ext cx="960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模仿 UC 头条的聚合效率，但加上农业场景筛选和趋势分析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D14BF9B-5D2A-4550-ADD1-C2983B2C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00750"/>
            <a:ext cx="960120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不追求泛资讯，而是围绕江苏句容新农人、产业扶持、科技招商、农业项目和市场渠道做垂直聚合。</a:t>
            </a:r>
          </a:p>
        </p:txBody>
      </p:sp>
    </p:spTree>
    <p:extLst>
      <p:ext uri="{BB962C8B-B14F-4D97-AF65-F5344CB8AC3E}">
        <p14:creationId xmlns:p14="http://schemas.microsoft.com/office/powerpoint/2010/main" val="2260016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E3FED40-4F42-4A03-A7F0-E3DA74E9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C7A8D-F979-41F6-A272-3A4D9893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CBE36-D0F7-4554-88C0-94B2D280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5179B-13A6-45D6-BB5D-D992B0CE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AC2FC-BB63-4F7E-8F4F-238307BF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7B62D-7F10-47D5-8157-846D59E6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F77DB-C1A8-442F-832C-28198CBC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D49C7-BBE4-483A-ADA5-20403C70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25EDD-0D92-4F1D-956E-43A0BA2B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BD103-10B9-43EE-BAD2-9A6ACE0F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79BD9-CAA2-4F0A-AEE2-C6DF08E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D396B-11D3-4A24-A532-F388D662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0FE63-B9EF-42BE-829F-791D1920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434DE-EE7C-4088-950F-6F8C91F5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2420C-5A7C-4500-BEF0-3F94F0CF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070BB-A1D0-482A-8291-098A7174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AD363-D1E1-4340-B862-45C7851B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0246A-93A8-41EA-B514-CC91F27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D48F3-5D4C-40C4-9B7F-AE9D99F0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D03C3-B74D-48C5-8CDA-A941A823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90922C-ABFA-48F6-A9BE-D80D01E3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2C0E99-D936-4F21-9F99-2CAAAEF6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FAF21-028D-436F-8591-FEBAF0B1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FA24A-85A2-4AEA-BB3E-6C596376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3E353F-6B47-491F-A9A0-7E4CA951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BEE802-FB8A-4F7F-B157-40816461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30564C-E332-40CD-B488-C7824180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CE0D24-8CB1-4979-A2CD-38471EAA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D09614-8CFF-496B-93A3-42D65F0C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F18DDA-635F-4C9A-A730-F7E5E39A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0D68C8-2840-4BB5-A87D-F3C43F22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6705D0-7600-45A6-A14A-7844A520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828B44-1194-4244-8C34-0D216182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0EFD39-4B27-427A-AB3F-5DD39052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7C9650-EB56-4D3C-A4A8-4D9A859C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F7ECF2-4229-4BEE-9B4E-25813A01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B652A4-95E1-4710-8426-0B86879F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42D455-59EB-4F6C-98EE-50CFD417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E857B5-CA5B-409A-BC81-ED4BC178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AF03E0-0828-459D-BCEE-2B2E7279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AED663-EE86-40A7-BAE5-7DA437FD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846620-5908-4BCB-84BB-D08C7CA9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D89763-4BC3-4819-A68D-6868B793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72F70D-1C20-4480-9E12-E6443477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001B8C-D355-493C-87B4-CAEC51F6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972E15-1E54-4DE9-865E-37216B36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0CC03D-7E27-4526-B8CD-8E35E1E7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7522F4-AA19-4FCB-8301-DEF1D08B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市场、天气、路线三件事必须一起判断。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852157-20BC-4BE3-8AE1-BEDB1DAC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默认江苏句容，可手动输入城市或地图切换；目标市场也可手动输入或地图选择。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1A457E-ED0F-4A7A-A0DD-732E6CF4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143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9d1eaa24d411f"/>
          <a:srcRect xmlns:a="http://schemas.openxmlformats.org/drawingml/2006/main" l="0" t="9296" r="0" b="9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543050"/>
            <a:ext cx="4914900" cy="329565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9C2BA8-3799-4B68-814A-52B7BD2D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行情与农资：动态价格表 + 品类建议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E15FF5-E2D1-4FFD-B4F7-C060162A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28750"/>
            <a:ext cx="5143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ca6deb5354576"/>
          <a:srcRect xmlns:a="http://schemas.openxmlformats.org/drawingml/2006/main" l="0" t="9296" r="0" b="9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543050"/>
            <a:ext cx="4914900" cy="329565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C46EB3-4E13-495B-A174-802FDA33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农业气象：今天到三周滑页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9CAAF0-B3F7-4760-B2E0-97973AF0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18ABD4-18D2-48D4-BCE8-70971F6F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92CDA7-F074-44C5-B699-3BDA5882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769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价格动态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82B2D6-EBE7-4CA6-994A-D4531A56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00750"/>
            <a:ext cx="25146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本地相关农产品价格循环滚动。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6740FC-11B1-4295-A519-0919641D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435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A6660D-F381-4A60-BDD0-5A888ABC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435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98"/>
          </a:solidFill>
          <a:ln xmlns:a="http://schemas.openxmlformats.org/drawingml/2006/main" w="0">
            <a:solidFill>
              <a:srgbClr val="38679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675960D-D7F3-4212-AEC0-977E4BE3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769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气象滑页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9A4C31-DEA3-4A7F-A8F8-BDC01519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000750"/>
            <a:ext cx="25146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今天、明天、3天、10天、15天、3周。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31DAFC6-BF9B-4E09-84E0-40873765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435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74D276-51EC-4A20-99FB-D29FF336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435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ED93DC2-8C2C-4FFB-89AF-039E9369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769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路线建议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7DE98F-D52C-4464-A808-2418A6A0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00750"/>
            <a:ext cx="25146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沿途散货销售、冷链和市场到货判断。</a:t>
            </a:r>
          </a:p>
        </p:txBody>
      </p:sp>
    </p:spTree>
    <p:extLst>
      <p:ext uri="{BB962C8B-B14F-4D97-AF65-F5344CB8AC3E}">
        <p14:creationId xmlns:p14="http://schemas.microsoft.com/office/powerpoint/2010/main" val="2500895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0F015DB-975C-4B61-8DC3-69FDD60D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8CCE4-56D2-4101-84F3-37A7EB01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4F6C8-767E-4EB3-B7AC-0CA65698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EFFBC-AF35-44DC-97C4-5B894546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57BB1-D7C7-4A10-BB9A-90B48BD2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8C42E-6A2D-40BC-8839-7A105D8D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F1416-4495-482E-B124-B3992FBC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00996-CD6C-46CC-BC06-BDFFD152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2DD86-D1D9-4958-A261-A15FF99A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682CF-05D0-4D14-BDA4-16B08020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64E3A-7203-41E5-805C-95E5B9B5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17F72-FD41-48FB-AD2D-30C5109D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531E7-2BBF-4261-BBDB-2B81A7A6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D8873-E420-421A-AF25-2AEEE516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4CA85-6AC0-4102-AECC-2619DFAC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F6665-736A-44C1-9A67-A9BB6349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33036-2101-4AC2-A6CE-78EF4DC4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D89A8-6A3F-4502-8D37-E1F66E9A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55297-65FA-4BB4-834A-4805D63F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A7B37-FC1B-4C60-AF2A-AB881C7D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22BD47-8A4A-4962-9695-4CA8D9DE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6DA88-DD2F-47D5-96C7-9C525BD3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FF447-192C-408E-9F6F-94D7F36D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D52065-B26A-436F-92C5-CE7F60D1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ABE9C7-E7D7-48F1-8979-9274189C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C97B7-7AEB-4BE7-85C7-DE8D1C17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4D27B1-C9FC-4C14-8E67-171426BE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32C4F1-CEAE-4B70-A123-029C04CB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D950F7-EB5F-4C62-BC5B-83CBE18B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7CF5F6-BDF2-4954-8B60-D7BC2DE6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2FFFB9-8CA9-4C5C-A7A2-4A7DB447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1387A6-DBEA-4C89-8245-A6CC7DE7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C26511-5CAE-46A0-A02D-74219EE2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F951CB-91DE-407A-8F59-FAD69F39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00CBDB-78BC-4173-9031-F13A0C5F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1614F5-89E0-4F99-AADA-77352039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D9C99C-FA0A-4E87-B449-F6A30EF4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1FFE44-35AF-400F-AA40-21A90FA3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6C04DC-12BB-42C7-95C9-5F3F6627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64269E-698B-4B7C-8053-25D88CD3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4B873C-B124-4F3F-8B33-FBB211A6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7E1D44-BDA1-44C8-AAF1-68DADB40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C1E662-59D1-4635-AD73-7BD2805E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DB091E-7D28-463D-AA2F-4448CD4B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5ADD25-D5D1-4C6E-9AF9-910DCABA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9474A6-4ADD-49A0-97F2-4100CBE7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9CBAEA-AF2C-4951-AC16-07C00977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14C975-EF48-46CB-AEFD-8A0FCB97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政策不是贴公告，而是能点开、能解读、能申报。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6C9FF8-8D74-4496-9BB4-9EC21DD8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左侧保留政策服务栏，卡片可进入 AI 解读，帮助农户理解申报对象、材料和部门。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0FEECE-FCB0-48B8-A9F4-172FE927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51054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68eba72f54ac1"/>
          <a:srcRect xmlns:a="http://schemas.openxmlformats.org/drawingml/2006/main" l="0" t="8978" r="0" b="89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543050"/>
            <a:ext cx="4876800" cy="329565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120211-5D3E-431C-BE0E-87E1CD4E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政策雷达：申报对象、材料、窗口、部门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38D4A7-E4CA-4CFC-88E1-6862D08C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28750"/>
            <a:ext cx="51054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bd89efe5843d5"/>
          <a:srcRect xmlns:a="http://schemas.openxmlformats.org/drawingml/2006/main" l="0" t="8978" r="0" b="89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543050"/>
            <a:ext cx="4876800" cy="329565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DB6F59-422E-4D1A-88C4-AF39F26D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149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点击卡片：弹出 AI 解读气泡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3C0FD0-2A7A-4779-AC5B-875BF6B2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43550"/>
            <a:ext cx="963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65D9FA-A284-4D9C-8B3F-57B25105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435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436"/>
          </a:solidFill>
          <a:ln xmlns:a="http://schemas.openxmlformats.org/drawingml/2006/main" w="0">
            <a:solidFill>
              <a:srgbClr val="B0443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D963F7-B4CC-41C3-B4EF-47C90ADC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76900"/>
            <a:ext cx="929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左侧政策服务栏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AF05B3-1D62-4B6B-ADDA-DFAB6197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00750"/>
            <a:ext cx="929640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农业农村、政务服务、人社、市场监管、12345/12316 等公开入口与电话聚合，帮助理解政策、维权和申报路径。</a:t>
            </a:r>
          </a:p>
        </p:txBody>
      </p:sp>
    </p:spTree>
    <p:extLst>
      <p:ext uri="{BB962C8B-B14F-4D97-AF65-F5344CB8AC3E}">
        <p14:creationId xmlns:p14="http://schemas.microsoft.com/office/powerpoint/2010/main" val="119960179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15702DA-56EF-4E4A-89A6-E0D10249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5FC4B-A336-4F3A-A167-CCCCAFD6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50CB6-3A67-4921-85F8-1D84C099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AD2E8-B955-4CED-8C7F-AFAC7063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D1FBD-DD5D-4DCC-9625-C2343347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36013-CC90-427C-B95E-C4F02DE8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2FD1A-5137-4855-B17C-13B409C7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74F0D-3B6E-4A68-967F-AD7A640D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16F13-2221-4F7E-8297-D49C2833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CBCCE-1625-45BA-8E27-1B62BB52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359FE-494E-4688-AF73-94DF940C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59890-DA88-418E-B372-2D9CF3AE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E8F64-2719-4FB0-B0BB-703F4968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8628E-239A-4FD0-882B-CE7C2710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5F251-88F0-4E67-9CAC-12F4DFEB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CF7C3-30BA-4E78-BA43-C5595601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432E8-82A6-4E37-BFB1-DB18760F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3B7A0-9F4D-406F-9E7B-FC24EDC4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CA0DE-5AA9-4180-9F49-A71835ED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26C14-6085-4A25-A36A-D268E98F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847310-9B87-41EA-9230-2437C79E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CCEB1-24D7-4B8F-9976-1384BD7C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23A4A-FCC2-4632-837F-5F799AD2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2EF533-796D-4CDD-ACE6-B85BD4C2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39F1C8-CA98-45AB-A788-D808E845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46DAE-ABD4-4DD4-8440-CB9A9045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8C774-6E8B-44AB-B35D-8122D61C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7E2772-C7E3-48E6-9341-A6D02A36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4CAF50-D0AB-494B-9E41-9E49543D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A6F002-7AA1-46F8-827A-1ECDBB9C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03635E-363D-43C5-97ED-9D22C02A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19EDE2-5EFC-4EB1-A784-8DE4FD84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9C1F7F-B97C-43A6-B210-E9B3344D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C6B73C-F2DF-4E9F-A752-A623D683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39C516-8064-4661-BD58-57B6B091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786C56-EC67-40FF-A8BB-A968DF27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30F76E-8BAA-41D7-9A30-A2D215C9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D3DE78-BAAA-4676-824D-2F3282F5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208C80-9C02-4561-9DB2-10DD9B41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BE4CBC-8934-4AC3-B95E-490618D4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FA25BB-4804-4CF6-802A-40E2AA34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A8E76E-D027-4FAA-B79A-2ED761A5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98D9F6-AC8E-4AAC-BD6D-F826E39B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095CA1-EFF5-4550-AEC7-52576A63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DED3F4-5249-426A-97AA-F8F8DD7A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E6360B-AC5D-480D-BFCF-6594BF89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C29FDC-EFE4-4F3F-942C-304CF48F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1975EE-86BC-44AD-AB92-3A2D7EB5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技术架构：公开数据、本地知识、实时信息和模型推理合成一个中枢。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7E1EFC-B766-4F37-8BFC-29054259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评委看这一页，要能看到先进性、可扩展性和可部署性。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4DFF94-1D48-42B1-903D-B4970626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11430">
            <a:solidFill>
              <a:srgbClr val="26704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09C113-9978-463B-8126-00EDCAA3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526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BE7879-8551-4780-ABCB-6D24B471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14500"/>
            <a:ext cx="733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AGROVOC、Crop Ontology、Google Earth Engine、台湾农业开放数据、政策 PDF、江苏句容本地报道、气象行情与网页抓取。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A10425-EF19-4A99-A75C-F29C471C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241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2B1623-A237-4D8D-BE74-59000316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11430">
            <a:solidFill>
              <a:srgbClr val="B47A1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AC4496-3960-4213-B103-8E6164CD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09B3D8-21A0-4C00-88E0-DE3313DC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733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Ontology 管理、分块索引、BM25/向量混合检索、知识树、证据链、规则记忆、会话图谱。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CE61493-8608-4774-9C88-A0B8ECD2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337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167CD3-DA38-4E73-87F6-EA50FF94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38679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0AFCE0-5134-4704-9E25-FEB3F1A1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推理层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C340BC-D467-4038-B630-317AD560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33800"/>
            <a:ext cx="733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RLM 递归判断证据缺口；新农人助手调用 Kimi-for-coding 生成答案；本地模型做可信电脑兜底。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874A0E-D819-4FEB-93EF-149A024F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434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BBC5CF-CB46-4C1A-BE1B-2CBED819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11430">
            <a:solidFill>
              <a:srgbClr val="B0443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8E7C480-AB8D-4241-AF45-5F4E0D16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0C5BAEB-D668-4C6E-9B7E-1C08D2D1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43450"/>
            <a:ext cx="733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农户问答、政策申报、作物监测、行情农资、路线物流、资讯聚合、材料导出与路演演示。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E31CCA9-A4DC-43CD-BD2D-06D57362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CB7072-F02E-46C2-8FFE-841FCBE2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D5DE3F0-2B8C-4AD2-B664-E1C4E1AA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05500"/>
            <a:ext cx="908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架构价值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1AE6F65-8061-471B-A188-9B18C305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29350"/>
            <a:ext cx="908685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数据变成证据，证据变成规则，规则反过来优化下一次经营决策。</a:t>
            </a:r>
          </a:p>
        </p:txBody>
      </p:sp>
    </p:spTree>
    <p:extLst>
      <p:ext uri="{BB962C8B-B14F-4D97-AF65-F5344CB8AC3E}">
        <p14:creationId xmlns:p14="http://schemas.microsoft.com/office/powerpoint/2010/main" val="1226884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AA7B1C0-36DE-4E35-B717-75613623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79E24-8362-42E3-8572-78628380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71544-181D-4296-BA54-2BD01E2C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4745A-C756-417A-B5A9-E4B398DA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B79F5-30B0-4D86-B129-A81F73E5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5FD0C-36E2-42FA-9EDF-AF2FA655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C50FD-897F-4092-BD11-DE10F1E0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6516F-2FD2-4C95-8C8C-CB86650F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43BEB-8BC0-42B2-AB2B-3FC7CF8F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574F0-403D-4315-90C9-50477621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BFE17-EFD1-45C2-87AD-5E62E4E2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53A04-E8E7-45A9-B7AD-5881F7E5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10668-A9D1-4BFE-B29D-D11073F2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F3185-E71D-4EE7-924D-3321864C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DEEE5-8D2A-45B1-8167-A86857F6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D5A16-61BA-417C-98E2-2E0017C3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CC3C6-DDF1-4360-A55A-FF1585E9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6FEF0-BC71-4B55-940E-58D4192F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7C7446-DDDC-4973-A665-380D93D3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478E3-1264-4598-B540-2330144A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C380C4-BEEB-47BF-BF28-8D56C8BA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461647-EFB1-4021-8805-169B7A01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7A58E-D6B4-49C7-90CA-3C58EC9E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D9734A-DBF8-4B54-86E3-4B8DD3ED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1B4870-D3D3-42F1-8439-3C5BC91F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CF40A4-B63F-43DC-8E37-48CCBB27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03A6FC-51B6-49C1-96C3-6F1A02BB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2C6726-C7B5-4C8C-819E-DE809B8B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74FBB-8FD5-41A3-9A92-44D890FA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F04C23-AF2C-4603-BB36-D1FBB3CB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79208C-839E-4F41-BEAD-395F57F7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D0ACC9-E248-469F-AB41-B0CA6CE8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7C96B8-78F1-42F8-9EE1-BC32307E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A38278-DC00-4208-8E77-AADDD4C6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68998F-0C0F-4C3D-A357-36D46C52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7591C6-2C99-4E64-A81E-B9B9EC15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07B584-2F1C-4394-BB49-64679A7D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8D5157-143E-427F-97AA-8F1E2B23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F033CF-ED6F-4A38-9670-1A836F47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F4839A-9DE3-4891-B7D7-159DB10B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756260-6D24-43DC-9441-B02C5E9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55D34C-6B20-4BB2-8FC2-B245F350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CF0421-B459-468F-A677-AB68F5B0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DD75B2-8AE3-421F-90F5-F29EBC5D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095A1E-589F-4DA1-A0F3-27BCEBC1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CCBED9-E6B8-42A4-8554-AE9A8978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F2C9F9-A52C-40AF-982F-4711036F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02BDE5-C92C-48C0-B5A5-A45DD394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Ontology 数据管理：每次查询都能沉淀为可复用资产。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D81317-223E-4D27-A539-2355E20A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查询品类、政策、规则和证据不是用完即丢，而是进入本体化文件夹管理。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707974-589C-4A3E-A43D-23F481C2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11430">
            <a:solidFill>
              <a:srgbClr val="26704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618371-D8C8-468F-8BBF-5D5AA257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作物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1060B4-36AE-4116-8FD9-1C66772B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草莓、福桃、蔬菜、茶叶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991866-3C6A-4DBE-8A37-F5D94252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526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38679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70F61A-DC06-4B62-AEFD-E60E9C36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85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性状/变量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76C542-D30B-4C0B-80D7-FC601CED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717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温湿度、成熟度、病害风险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CADF52-B456-4DB6-BEC9-8228055E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11430">
            <a:solidFill>
              <a:srgbClr val="B47A1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080AA7-4F1D-4AFE-8D9C-14F5B835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B7562B-6477-428F-A7FE-4367A638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价格、收购、渠道、冷链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532053-AB68-48FB-8E83-B4BAE289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526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11430">
            <a:solidFill>
              <a:srgbClr val="B0443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692114-C20A-420B-83DE-DDA95953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85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政策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E7E88E-AC84-4DDE-910D-2A70A102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717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对象、材料、窗口、部门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59857DC-4F2C-4081-90EE-45222ECD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6704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4B7252-B2D1-40FD-A7DC-8E2FC91F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主体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DA146EE-9701-4B65-B151-515BFBB1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农户、合作社、企业、部门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426C2D9-E4D7-4A65-855B-F58C1805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99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8679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14CB697-BC9A-4B44-A0DB-2BABB22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432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地区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41F8812-5D53-47C7-9124-D8BE2F7F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290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江苏句容、目标市场、路线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6BAA725-998B-48B6-9145-9625B5DE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47A1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D1D1442-6B9F-459D-BB03-74064D7C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002DB4A-DA1D-419D-BBEB-F8C50A3C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触发条件、动作、边界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BB65D97-EA48-4A1D-A92A-DF004E72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99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04436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5376E24-C648-4D61-BD98-2F8A1854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BA110BE-AAD4-4386-9238-890A31E8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来源、时间、可信度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50AB4B4-F0DC-4A07-9DBE-810F9A00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4857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5DC3576-B54F-43A6-AE14-F8123AC6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ED08975-BAF7-4768-B446-C572D60C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451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本体组织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6806F56-9271-4CA7-8C8A-84DE4D26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43500"/>
            <a:ext cx="451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作物、性状、观测变量、价格、政策、渠道、主体、地区统一编号，新增查询会自动沉淀到本地 ontology 文件夹。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EECF0A8-D936-410E-B78A-F3BDA46D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4857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96E7BE1-FB34-4309-818F-EDC2980F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98"/>
          </a:solidFill>
          <a:ln xmlns:a="http://schemas.openxmlformats.org/drawingml/2006/main" w="0">
            <a:solidFill>
              <a:srgbClr val="38679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2D253A1-90F5-41F0-8C83-F86AB32A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9650"/>
            <a:ext cx="451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经验沉淀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BE1306C-0B15-4FED-8FF8-BDA46A60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43500"/>
            <a:ext cx="451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用户问过的品类、行情判断、规则解释和导出材料会沉淀为可复用经验，不再只停留在聊天记录里。</a:t>
            </a:r>
          </a:p>
        </p:txBody>
      </p:sp>
    </p:spTree>
    <p:extLst>
      <p:ext uri="{BB962C8B-B14F-4D97-AF65-F5344CB8AC3E}">
        <p14:creationId xmlns:p14="http://schemas.microsoft.com/office/powerpoint/2010/main" val="18078111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0CF00EE-F043-4245-ACD1-29AC0769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4259E-CD8F-4FB5-8FAC-BD397038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737FC-4AD3-4858-93BD-12CC6EBC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9F876-3EAC-44D4-A5B7-0767B91A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2A3AE-F7F1-4A27-B1CF-26A7D225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BDD30-7431-43A7-81C2-E863FB11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0FB7B-AA2F-4C66-A1EA-ECF5BCF7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87B11-028E-418A-BCB7-B97AF74B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5FC2D-D30B-445C-A2AA-3DCE6242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42E8B-F564-40FE-85BA-21FEF38F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D0942-B042-4AF9-9719-83E380A9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2BDA6-93A6-47C6-B007-18C45016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C2D00-0465-4C8C-9D07-C53C9B1E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64C5D-C670-4A18-A2F8-72947714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50A08-3B5E-48C2-88A5-23C910BF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27DB3-D3D3-4940-B999-6E2C3034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0725D-AFCF-4652-9B7A-7D3825E2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E2BC3E-F5BF-41BB-BDEC-8E2EBF07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4785A-2532-4890-8846-85E34CBD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72AE3-A732-4847-9349-AD899F59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E76B1-E11C-4618-AEAE-17A7E81B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9CB7E0-EB0B-42F1-A633-70FB3448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33335-087A-4D90-BB7B-8457EC27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7F511-54BB-40F5-B775-03D1317F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41BED8-C778-4B94-AF65-9F9635DD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FCBD7-C1B1-4B99-95C0-AD072F3A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6EE8E6-DB8D-4096-94BC-F2D6212B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483D2E-C53D-4AED-9301-BDBEAB30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45E858-E3AC-4B7E-9628-08DDE7E5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D53B01-6978-41C3-913E-74C1403D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8DF5D-76DE-4666-9234-F02EAF80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485390-91CE-47AB-878A-05FA6BF5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996427-FBE0-4005-8BA6-C4284D4D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0214FD-D1BF-46BD-97C8-D82FC251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0641D2-1398-417A-8251-4749CB7D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AD1E6F-909E-43C9-A7BE-2F724890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4156E8-95BF-4866-9062-76DAB52A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6854D8-9509-49E5-8095-DACD48D9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F4F210-88ED-40F6-8E90-47C0A2FF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030632-1995-4713-B9B9-F4FDC53F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E92C0F-3A8D-491F-AB56-0AFD6844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50BBA2-4AA3-4CEF-AF3D-FD28C84E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88BFB0-DD5F-4C08-8EAF-284C8924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EBEB8E-34A4-4453-97D4-5AA6574A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A6A7CC-8BA2-4011-B4B3-AAEBA72D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23395B-47F5-4212-836D-AD4ACB75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7B9B95-65A7-48EA-A58C-22F218A2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E02ED4-562A-4FE9-B6C0-427F6883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RLM 递归推理：让模型先查清楚，再下判断。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DF4CE9-EBA2-4618-A1FE-F6857377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面向农业场景，系统会判断证据是否足够、缺什么、该补哪类数据。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EB4F9E-061C-4760-9A60-C3733615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527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452F"/>
          </a:solidFill>
          <a:ln xmlns:a="http://schemas.openxmlformats.org/drawingml/2006/main" w="0">
            <a:solidFill>
              <a:srgbClr val="12452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C296A9-E692-4F44-9AA1-F2039728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RLM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递归推理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15FCD4-10A8-4F20-99E8-69CBB512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009650"/>
            <a:ext cx="179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10478">
            <a:solidFill>
              <a:srgbClr val="26704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172945-C0F5-46B0-9C36-2A937410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1049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识别任务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1115FD-9563-44B2-BE1C-9048AE28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371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生产、销售、政策或风险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C4FFDD-32F3-4335-A1F5-EC6A2111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073" y="2009775"/>
            <a:ext cx="179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0478">
            <a:solidFill>
              <a:srgbClr val="38679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A4E5A9-6327-427F-9D31-9AC6C7A3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423" y="21050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检索证据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63DF879-135C-4A50-9BC6-9FD84AD8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423" y="23717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知识库与实时信息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B633AD-A8BD-4738-B471-C86C1EEE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073" y="4010025"/>
            <a:ext cx="179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10478">
            <a:solidFill>
              <a:srgbClr val="B47A1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BE7818-D8F9-470A-A6DD-DC2F56BD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423" y="41052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发现缺口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4017AA-E584-4279-9C72-82687236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423" y="43719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时间、地区、品类、主体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F93883-B7A1-49B5-9220-CCE82E46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10150"/>
            <a:ext cx="179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10478">
            <a:solidFill>
              <a:srgbClr val="B0443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E146B0B-AAA2-43FF-AC49-99CFFFAC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05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补充查询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BB6A89-BAEA-4612-8F20-64C847AB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721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政策/行情/天气/来源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DFCCB0-4310-4EF3-AB31-C632F737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827" y="4010025"/>
            <a:ext cx="179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6704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ADE183-2E29-4EAC-A2C7-3DB0FDA7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177" y="41052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生成判断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4C39BAF-9DAC-4192-B1C9-FD858A13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177" y="43719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结论、原因、动作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E04C429-47BB-4B6C-8C0B-109A1B69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827" y="2009775"/>
            <a:ext cx="179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38679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1DDDE13-5DD6-43C8-B61D-6E9905BE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177" y="21050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沉淀规则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AC9322C-C9DE-4BD3-9680-5B966E63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177" y="23717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下次复用与审计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C213036-B1F8-4C12-91C8-27464290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975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E908144-CDED-46A1-AC70-6EB126B4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F44DDB7-51DA-4676-B8D0-472D2BD8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10250"/>
            <a:ext cx="941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递归不是玄学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C8144E2-F828-4E88-891B-EAC61E0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134100"/>
            <a:ext cx="941070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系统先判断证据是否够，再决定是否补抓政策、行情、天气或规则，最后输出可执行建议。</a:t>
            </a:r>
          </a:p>
        </p:txBody>
      </p:sp>
    </p:spTree>
    <p:extLst>
      <p:ext uri="{BB962C8B-B14F-4D97-AF65-F5344CB8AC3E}">
        <p14:creationId xmlns:p14="http://schemas.microsoft.com/office/powerpoint/2010/main" val="14190979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25062D6-7E2C-4ED7-9F35-7E622249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AB7BB-ADBC-435E-A908-0BFC335D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04DE8-1893-488C-A565-7BB98901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89CB1-6C74-43B0-A1A5-A1B675E0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14585-CE65-4486-8C70-957C1023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72750-AA42-4570-8342-88D60538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8BAC9-A126-4500-AAAB-03C15F43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1953F-7F79-46C5-9738-9B2EB838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FD876-B9A2-4221-B30D-55109CDE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724F6-3716-4B37-873A-49445366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6169E-3DE3-492D-A069-1C1F0268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86C78-B2C0-4274-969A-D9EA6ECE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89E5C-84BE-4EDD-B192-314759AB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3B6FE-4395-4D0F-9371-DCC27D81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663F3-3877-4F93-91B1-1DB87578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ABD7B-F5FB-43AF-8D3B-3E20B3F4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72568-47F8-4F6D-AC6A-6913A962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AD28A-EE76-45E6-B536-432BCA0C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1822A-DE8F-4909-9536-40D8C9F5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A01810-B3C7-4552-B063-803FAE01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B40617-AF3B-49F9-86FF-8AE4E944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79D50A-3C07-4FFE-8824-FCCE9905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CFD24-06E1-4A7A-B021-7D29F8A9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9A2FF-25C9-4537-A08D-43AAF2A5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A9E16E-88B1-4CF4-8152-317657A3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7F1067-34EB-4E27-A74A-750351D3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EB917C-CDD5-4C49-BDAD-E49DF029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964B8F-D81C-4F29-B941-1F8B1336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18CBC2-769F-4244-997C-6C046AF3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46A5C0-08E6-4774-86F7-00DE5F3D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58F03C-0B84-4781-AD9E-EFE651CF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3EABDD-82A1-4D8A-A25A-1CD26799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3C986C-74F9-48EE-8762-7D176284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312603-C7C0-47B5-ADAA-212E6E66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DB8880-AC31-4192-959E-BFD396B8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BAB1A4-9EAE-43ED-B208-536864A9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3FC40F-4D1A-4864-B216-63E72124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7844EE-1B7F-4651-896B-002982DF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6E211C-9AEC-4F52-A3E3-63B94A7E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2C0080-1C67-4DD9-B332-A20E7CEF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E6A76B-3F04-4DCD-A886-E91879AA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8C9BE3-57BE-41A1-B474-2C7FB9F5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DCAD32-C662-4451-AAE8-FE2B8764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F9BDC5-409C-4E72-8609-719D2DC7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0B2EDE-7D24-466A-8D91-1AD85008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731742-B42C-46FE-9C66-6ED558C3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ACD6E6-ADB2-4162-B008-FD5A60F1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AC4C33-1242-4D74-83A4-4D81B0BE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真实模型调用已实测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95CB62-7ED3-4385-9EFD-0ACA2650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中文问题进入 /api/query；返回 llm_used=true、KimiCliProvider、kimi-for-coding。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00B6BB-335E-425A-B872-CA8FA64F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51816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40c85ce9e438f"/>
          <a:srcRect xmlns:a="http://schemas.openxmlformats.org/drawingml/2006/main" l="1891" t="0" r="18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562100"/>
            <a:ext cx="4953000" cy="289560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35269C-552B-43BF-B89B-7068BB19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483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后台操作视频海报：真实接口调用链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C5339E-093C-4F99-A8C1-80FA392D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192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88BB09-3AB7-4A38-9CFF-2AA708C4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335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true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1C0E0E-45F4-416B-B33E-B0A65D95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llm_used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CD5F49-22E4-40C2-968D-D3787DC4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192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C91593-712E-4535-8D4B-D149707A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335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KimiCliProvider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CAA954-8CBF-487D-8071-29DEA777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模型提供方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995D85-BFCC-41EA-A037-85A71C43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CCF720-7A06-4CF2-94F0-4D92B67D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kimi-for-coding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20846F-3E06-463A-AA5D-E97072F0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调用模型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6E8B04-18A6-4F12-8DC3-0615E62C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35F7568-A633-4022-8BB0-5D27219B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813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64.87s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7E2D17-8BE9-45F4-A47B-CD28DC41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623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实测耗时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921D79-724C-454B-9C7F-4C436F0A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4324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27576A1-513F-458A-9C37-DD0FDFE7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42223C9-FF0B-4CFA-97C8-DD427B59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398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返回摘要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DA871F3-ABE5-4331-8484-719D94C5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398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一句话建议：当前证据不足以直接安排采收销售，先核验草莓生长阶段与当天行情，再确定采收窗口。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8A96D83-5D1F-4474-80B3-8ABB2D96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05400"/>
            <a:ext cx="4324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B1EE12-72F4-4328-9002-81217313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054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AA3251C-EE3A-4C1E-969D-E7687C5F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38750"/>
            <a:ext cx="398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验证结论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C087A1F-BFD1-4B6C-A8E8-49735178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62600"/>
            <a:ext cx="398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中文问题正常传入，接口返回 llm_used=true；模型提供方为 KimiCliProvider。</a:t>
            </a:r>
          </a:p>
        </p:txBody>
      </p:sp>
    </p:spTree>
    <p:extLst>
      <p:ext uri="{BB962C8B-B14F-4D97-AF65-F5344CB8AC3E}">
        <p14:creationId xmlns:p14="http://schemas.microsoft.com/office/powerpoint/2010/main" val="13143090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E0530F4-9C48-4249-A0C5-65540B06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D77C8-7CED-4BF6-B183-53EAC6DF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A2CCB-70E9-4A2E-A1EB-11490846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BA320-C8E8-42BE-9540-09F0B0E8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744B6-0446-4A97-8F28-8C527AE6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BEBDD-8684-4E7E-85A4-48614B16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C0BE2-CACD-4638-8A3D-F355E04A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1690F-B3B4-4B46-B31C-1D07EA83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AACC4-198B-40CE-9D82-9179D5D6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3C291-A6D5-4BE3-A0F5-1EE6BB02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7D55A-D109-4E46-84E1-C135A2EC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1B661-D8C9-4D00-95B8-C8DF3D8A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DCB61-0FA2-473F-805A-36357609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096EC-BB51-4710-AF01-70645640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E4E67-D289-49F1-A904-DEC59A24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D67B0-79EE-48F5-98BD-A0D0B280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711AF-9B2A-4ED1-A708-0D6DFEB3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58862-7087-41DA-89FA-FC85E83A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36A65-24F7-4DCE-ACA9-C9029F61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8E958-772A-4A4F-86F7-E2CD57BE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572260-05DD-4AF0-A297-244386E2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B3460-7D37-4069-BCB0-9CBC686B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6E1F6E-A5E6-427C-B9A3-4B7BE8F2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E84AA2-97E7-45DA-BA1F-675589DA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866AA6-B7BC-4E92-8CCD-7EFF09E8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EB8EFB-76D5-4026-8E7E-598FA339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B7DA51-C107-4EE2-938B-8A4C3129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0EF7F2-307E-4D08-9C0D-71650ED7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212137-ABD5-4E23-9E4B-ECA3BB53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A78F8A-BA8E-4D11-82EF-D142DF7D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6C665B-1FBF-4393-9422-A91AA26A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A5ADDC-80D0-4ACB-9D60-76A13685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F1D058-16AF-4A73-A6D4-78EFB7DD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C886E5-143A-4F47-ADA9-C2B1B439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927CA6-E0F8-4105-AA9A-4AE82418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42E4A0-5922-41ED-934C-851349A2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2C9295-1AC7-4797-82AA-03F07E3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E8E9F7-F7CF-48B8-833D-50ED9A9A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9A6836-EA3D-4034-93FF-C3B633FB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EA9FFC-3DBF-4714-9295-B1793781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126D61-2518-47A3-8FAB-F8AA1E1D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ECD880-0DA5-46B3-82E2-C89AEACF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7CA638-61BC-4289-9B30-83C95D33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B4A5F3-A42C-464D-AAF5-633646C2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A136A7-6561-4A02-A901-9217B4E5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0F4CE7-FBFC-42CB-909E-F6D95420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BFA631-7C9D-42AE-8F11-3AB791B1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28951F-C0FA-4BE3-B04A-3F8B20F4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商业化不是卖模型，而是卖县域农业经营闭环。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67DF13-F02E-402F-815A-238376EC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政府、合作社、企业、电商和创业服务都能在同一底座上形成付费场景。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2C10C2-B864-4ED6-967A-C4B242E3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BCA4C0-5D33-4E6A-A5E2-FF511069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7B98C1-05EB-45DB-9E09-B6E58518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政府/园区版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339F1A-A443-4AF9-BFD2-E7340716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000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政策解读、产业监测、主体服务、项目申报、质量溯源和数据驾驶舱。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FE2168-3C3C-4E7A-8575-FF979483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81C8EF-40D1-4123-9334-41972C5F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98"/>
          </a:solidFill>
          <a:ln xmlns:a="http://schemas.openxmlformats.org/drawingml/2006/main" w="0">
            <a:solidFill>
              <a:srgbClr val="38679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D005DD-A897-4AB9-BD77-D5F1394A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52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合作社/农场版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8793E2-C451-4679-B12B-81032B71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2000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作物监测、行情判断、补贴申报、经营台账和经验规则沉淀。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699131-2291-45DA-9504-D424DCF9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BF2BAF-D9CC-4A44-B33F-BF12CF79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9C060F-F530-4A04-93CF-C0179865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52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企业采购版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29026A-D258-49C6-9EFE-EED2B7BB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2000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货源匹配、路线物流、价格研判、质量追溯、收购计划和供应商筛选。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4931CBF-C62B-4771-B6FB-EDAF93F0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39C18C-7841-4BFC-AD33-5978FE65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436"/>
          </a:solidFill>
          <a:ln xmlns:a="http://schemas.openxmlformats.org/drawingml/2006/main" w="0">
            <a:solidFill>
              <a:srgbClr val="B0443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EEF507-C6E9-4303-9ACA-A1FB6560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52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赛事/人才服务版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C58DE9-A5BB-4A8C-83D3-BC45F0C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76450"/>
            <a:ext cx="2000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服务新农人创业大赛、项目辅导、路演材料和政策匹配。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E0556ED-5D72-4AB2-9570-901F2F4F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988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73B7023-FF0B-4196-8AFA-702AEB89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E90A526-3CC1-45D2-8A8D-D819177F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54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收入与落地路径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BDC256-41BD-4424-9D66-ECE50E38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954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先以江苏句容样板验证价值：政府试点/园区版、合作社版、企业采购版、赛事与创业服务版。后续复制到县域农业局、产业园区、家庭农场和地方电商助农平台。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5FEC370-7ED6-4C6E-80F7-161B059D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38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5BDF5A3-119D-493F-BD13-1ABABAB7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531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试点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E6A5CD2-8E66-4093-B6C8-EF478E1D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341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江苏句容先跑通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FC3B354-E37F-4792-9A21-34A687C4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38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9AD715-6A07-4AB6-88F2-8AE50C93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7531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复制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02DF351-0315-4561-A23F-FEA8C453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1341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县域农业局/园区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D5E880D-3176-4A05-A398-00FC7B01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38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F3B7AC4-5B2B-4AD6-B72D-782EFB4D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7531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生态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ADE9B44-92C3-47B2-815E-633D7F39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1341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电商/冷链/农资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8BEE186-DC84-464B-B4A0-36DEC13A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38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6468438-9EB6-4616-A4C6-1BD4B1FC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7531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资产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256CB2B-CEA9-4AC6-A4F1-E52649AA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1341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本地知识库沉淀</a:t>
            </a:r>
          </a:p>
        </p:txBody>
      </p:sp>
    </p:spTree>
    <p:extLst>
      <p:ext uri="{BB962C8B-B14F-4D97-AF65-F5344CB8AC3E}">
        <p14:creationId xmlns:p14="http://schemas.microsoft.com/office/powerpoint/2010/main" val="43338138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853A94B-B395-4340-AB9A-EB34F77A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4380D-2584-4C3F-928C-EDC990D5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B323C-5287-4DF7-836E-9CFF8BDB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055F6-6E12-464A-A91A-BC8A4387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10BDF-C0C4-4C16-8BB3-213D26F1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C7CFA-8C95-415E-81D9-D949B55B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53383-9B64-4615-86AD-DB2E65E3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AD8F3-B0B9-41DB-9162-22602F21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CFD3F-37DC-4871-B1F0-0039029C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1CCF6-6253-4896-BAB0-ED08F176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E304A-BB7E-4639-BB4D-F588D2E4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E4637-4C7D-4E15-A8D2-45C0B91B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E8898-3A42-4B21-A987-1B13835C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6948A-ECE3-4C98-A6A3-002C4F7E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53D6C-0DAF-4F9E-8F22-A0B86E03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7B020-B0D7-4AB5-BAC9-CADB1FB5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AC5D2-3054-437C-97CC-2BA8D7E2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03596-CE20-47EC-A23A-601529E3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16AE2-C78A-44E6-82C6-EEC70E2D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08F42-929C-499C-A39E-51F8B22C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1CE53-B005-4B91-AE02-CF398539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78C672-FE8C-4228-B5F9-436EEA27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37CE5A-76BE-4CA5-A925-70454A6E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998009-5D26-46A2-977B-A28688B7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04F18-F139-4756-A488-CAE112AF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2267BB-B7B7-43D0-A7A3-46CB4CD3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80E3E7-8AEC-4F04-9DA5-AB41C567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3CF7B0-031F-447E-A9AA-3AB9E3C2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ACC1ED-FE63-4DED-AC19-19510D75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1E7461-DD0C-44D1-BCF6-F38A5F93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6DEDD3-491A-4C06-9F96-7C84A364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4A22B7-ED3E-449D-8747-B9638862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AE4764-78B3-4562-A548-9D1D89EC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026382-9BAF-43A7-B9AF-4C3961B3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84C80C-3512-4AA6-9AC7-40413CBA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E04B20-ABAF-48B7-BF28-D3F4328F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38A961-B496-42A2-9C6D-F2BC0E70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2FBDD5-33FE-4947-AC13-1C864558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064962-0EAE-49CD-B25E-214CCEA3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4065A2-5C8D-42A4-867F-87F94BFC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BE70B6-B5E3-4145-A27B-67567F86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859263-02F3-4E8C-B759-02D2600C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8A2DA5-5C19-4C4A-BE86-784CE6E4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1F4E6F-D823-4705-9816-9AF2910F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3A7282-B0EA-4924-B238-E269DD38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27A3FB-666F-4387-9087-6D363D93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73B435-AF4D-4756-B6B1-DD5DE904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65DFE9-B4D2-4229-9D84-471344D1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竞争优势：比农业 App 更会综合，比通用模型更懂本地。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F6CA1C-F6A0-4A49-9E05-743075B3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核心不是单个功能，而是县域知识资产、业务入口和可审计推理的组合。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E6CE60-5F19-487C-B806-905A10B7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811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对比维度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CF8408-707A-4EAD-B5C0-E47C3B96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81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传统农业 App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A0B175-3D37-4470-9409-04FD2FB3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81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通用大模型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AB515F-9BAC-4FA5-8DBF-41AF01A9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581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AgriKB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AFE9AD-A068-4632-8952-157B5424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EE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B7243E-F516-4412-806F-57D9F53C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实时性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795822-0F64-46A8-BE81-BEF4F0F8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57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信息分散，更新慢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E1D98A-BA63-4650-BA79-6601F81B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57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能联网但缺场景筛选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C05EE0-2171-4B2B-8739-AA98FBA7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574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围绕产地、市场、天气、政策同步判断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077F431-935E-4818-8135-30472528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F88D9B-B276-46A9-9260-C337A677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本地化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48E484-7CFE-4E4C-8BFC-6F446332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43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常是全国模板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E62928-DC57-4F12-8DAE-F14FDF0F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需要用户自己补背景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BC9F576-321A-4D62-95ED-64AAE459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43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默认江苏句容，可切换城市与市场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E29A174-C72E-415B-880B-3E4DD7FA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EE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B56856-6F40-4476-94F2-57F0601F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可执行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B30C73-0FA2-407E-8B89-75398A79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290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多是资讯展示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4F7A949-20AC-4099-BFBD-CF854352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容易给泛泛建议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B078B2F-B9E8-40DC-A28F-64A81B4E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输出采收、渠道、申报、物流动作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4245DF1-3C8A-40FE-B12A-18053513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81BCFF0-28F4-47DB-8A40-AE2DE077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可信度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A38BECC-931D-4E9F-949D-D182E23D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14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来源不统一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D17F84F-9F74-4742-B81D-F76E8A81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14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证据链弱或不可审计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7FC035B-E2C1-4D52-BB4D-E0F3D36C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14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证据链、知识树、规则解释可展开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3FB5F3-8688-4BAD-8C94-4F339755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EE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FEF9750-174B-4EC6-B2A5-022A76F9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沉淀性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5CAAB15-CB85-4AFD-A465-8ADF1044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006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用完即走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C0A99E5-D30B-4B1A-AA8D-0985E706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006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聊天记录难复用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F49B118-B54C-4335-80E6-278DA1CA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006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Ontology、经验规则、会话图谱持续积累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BD787B1-10C3-4A29-8A35-0B0A3560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CB3133D-3194-456A-8AAD-A3D203F3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436"/>
          </a:solidFill>
          <a:ln xmlns:a="http://schemas.openxmlformats.org/drawingml/2006/main" w="0">
            <a:solidFill>
              <a:srgbClr val="B0443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FD44E02-08FF-46F0-8C67-EB0D16FB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67400"/>
            <a:ext cx="899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护城河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20B51D4-B2E4-4F6A-A5AC-EC1E2138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91250"/>
            <a:ext cx="89916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县域数据 + 农业本体 + 可审计推理 + 真实业务入口，形成持续沉淀的本地知识资产。</a:t>
            </a:r>
          </a:p>
        </p:txBody>
      </p:sp>
    </p:spTree>
    <p:extLst>
      <p:ext uri="{BB962C8B-B14F-4D97-AF65-F5344CB8AC3E}">
        <p14:creationId xmlns:p14="http://schemas.microsoft.com/office/powerpoint/2010/main" val="89580495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2C25AB2-1445-4E56-B690-FF997708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CABBF-B0DA-4608-9A73-F4D01BD5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603D2-2C47-477F-A0A7-C93F946C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64345-6A75-4FE5-A7BD-96A0DB64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469F7-A61C-4A23-B536-08E1119A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710C5-0C8D-4324-A276-54D9713C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C1FFC-6A69-4C22-83E2-6BAC13E9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6B434-56FD-4A96-876E-C1C8BD68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69B64-0EE3-46E3-AE9B-5CE9C5BD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F2A79-3628-4671-8707-DD6B072A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7FBAC-5ECD-49A6-AD77-5D4B8EFA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84F89-E784-48F2-9353-03DF77F2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D1731-D4B4-4C5F-B352-695780A5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F5B33-5CE4-4D02-8E14-ACB8EFA4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5CC12-63B8-4C38-B293-3C03C321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CEF0D-E5B9-48D5-82DF-7D5D771D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5555F-4645-430A-931F-9122213E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7E193-0B31-4FB0-A9A1-04F30F69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12E99-EF92-43C8-8561-BA9089CB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C6EAA-4327-473C-812D-8CA227F1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8B13B-7624-4715-A1DA-65CAD222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A3479-3747-40BD-895A-10BE5CF0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A22AF-1367-4CF1-953C-28512B6D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5341C-FCC1-4F28-AFF2-5D5324F2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18F754-75C4-4206-9996-15FA300D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3A10BB-9445-4042-9833-C55099C6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73254D-F03B-4223-A0FD-A0989EBF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467A59-97B4-4BA9-A582-5A989A51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61A8CF-1562-406F-B3BE-C75F71C4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8022D9-A33A-4BAA-9AF1-DD63A7D4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5CFED4-FD8D-4C7F-90C9-0986D7C4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DC21EB-9AC3-4FCF-8C5F-7744DF90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3C5FB8-609E-4C00-8E84-B65D11CD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4B7CD0-77D8-4221-9A32-6189FCB2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87FCE1-EC39-485E-9C3C-BC0B1F3D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51748A-36ED-4FB8-9391-F2C2FC33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4273A6-BB49-4632-A8A1-35AAC7AF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F4B42E-F81F-4C06-80E1-AF3FB8C6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10364E-9945-4F45-B0B1-2EE93B11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64F930-1E56-4E57-87C1-73829DDB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FADB45-6ADA-4F9A-860E-8A9FB71E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03BA8A-E782-488B-8F4C-BB64AAEF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B95DBF-23A4-4013-A604-E2EE2820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411286-4078-4CCE-B4CC-09E276B5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354164-F4A6-4E57-A523-9F9A6D39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10DEBB-F007-43B5-9C95-97840939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C9842E-3E0D-4630-8AA3-DA9D1F6A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1D97AB-98D9-44AE-81B5-53A8E0E2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部署与硬件适配：从手机扫码到可信电脑，一键交付。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2E4046-548D-4100-9353-CEA3C00C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比赛后可以先做现场试点，再扩展到园区、合作社和农业局服务窗口。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FFCD5E-4E78-493D-B46A-8A204DF7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11430">
            <a:solidFill>
              <a:srgbClr val="26704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F577E0-8035-4FB8-AFE6-C783853D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95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☑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58871A-077F-4950-B5F6-FE1A0FAE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764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手机 PWA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3F311F-4F18-4D25-B6A7-DB7D8203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农户扫码测试，少操作。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B9E1DE-BC0D-41CE-A30F-73FE3630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38679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33EA7D-9F7B-470F-9CCA-191B0B9D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00250"/>
            <a:ext cx="495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▣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403DF3-2AC9-431A-A890-DCA04AB1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764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服务站电脑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49DE7E-3767-4101-80F8-8C6F439A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098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乡镇窗口和合作社日常使用。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DC610E-B9C2-4DA5-8954-5636DAB0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11430">
            <a:solidFill>
              <a:srgbClr val="B47A1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2578C5-3831-44C0-BBE0-03DAFA21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95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▤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52DA1C-A613-4018-98F8-28F15579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764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IoT 网关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D3E1F5A-3752-48D4-963A-1CE81D06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大棚传感器和现场屏接入。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A1D028-1FD8-4124-929F-4D7D3F83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716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11430">
            <a:solidFill>
              <a:srgbClr val="B0443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754372-A6BA-4495-B78D-4D9B987E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00250"/>
            <a:ext cx="495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◈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D99BD9-D1A9-4EB0-AF5B-7070CF13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764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边缘主机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9739259-B49F-4A7B-BFC6-D5064D59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98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离线资料、本地模型和数据缓存。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FA0BA23-B64C-446A-983F-7E026A53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A956D1-F5B9-45FD-B6E6-F7DA82A2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03C475-880C-4BA9-907E-A911EDAE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291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硬件适配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92831F6-917D-45EF-B3D1-B9B608C9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52950"/>
            <a:ext cx="441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手机 PWA、乡镇服务站电脑、合作社大屏、园区 IoT 网关和边缘小主机都可接入。离线资料与本地模型可做兜底，联网时启用实时搜索和 Kimi。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7BF577E-1C12-43C2-A17F-21C6BF7F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FD5203D-26AA-48EE-9AB1-62A81AA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4E5456D-B368-4C8B-83E4-B5FF8B12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交付形态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8097806-E628-4AE1-A919-9DC77FD8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52950"/>
            <a:ext cx="441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一键启动、可信电脑部署、卸载脚本、API Key 配置、PPT/软著/专利/说明书在材料包内同步交付。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18287F2-9CC8-42DF-940C-E804EE7F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619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26704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2BABBAF-51A6-43E2-8629-66821525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864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IoT+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0A6E7A4-CF75-4C50-9853-171B4F7E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19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38679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3B9FD7-4191-439E-8343-B2823C13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6864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边缘推理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93E1E24-BCA2-4D97-B819-8D82EEBD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19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B47A1E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7BD08C2-0FB8-4DB6-AF84-B92FC53A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864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县域复制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65E9DA4-48F3-40A6-9BD6-539E7864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9525">
            <a:solidFill>
              <a:srgbClr val="B0443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F535605-6898-4D80-B2BA-2716FEA4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864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可审计合规</a:t>
            </a:r>
          </a:p>
        </p:txBody>
      </p:sp>
    </p:spTree>
    <p:extLst>
      <p:ext uri="{BB962C8B-B14F-4D97-AF65-F5344CB8AC3E}">
        <p14:creationId xmlns:p14="http://schemas.microsoft.com/office/powerpoint/2010/main" val="203341433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63EFA8C-93B5-463F-AAEC-4D7DAD95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4AA80-294A-49C7-B5B6-60635A77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ABC6C-9089-4AB8-9AA0-6EC69FC3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78C2E-F3FE-4A15-B0B6-8EF9725F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41DAC-0262-4559-AA37-C9899FDE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E9C46-B68B-4346-8D43-5EEB52F8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D895C-0CAC-4717-90D2-087FE060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DBF3B-1C95-4848-A697-31CE8050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56079-7EA8-4597-AE7B-FC2309E0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04DD8-A04C-4617-8473-27B5297B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D6E1C-2B3A-40F8-BD45-A9D70149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8C62E-D114-4F53-A04B-A7B443A0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54E6C-4921-44A8-8F88-F95E7FB2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548FE-62ED-4F91-979E-1B8949AC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AF14F-35B6-4C97-861A-2511D3F0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C9B87-5C83-4365-8E81-3D1FF151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C4CC1-A3ED-4E82-9454-68D60500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37AA5-D331-488A-B66F-8C01F1CB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30AAC-839F-4867-95F3-FA1AFCF5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8E3C8-3DFB-44ED-8627-0E1367E7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1E9220-93FB-4809-9B50-D7821C20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A3D9D5-4E6C-4988-8634-B1153F85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0FE07-EE8D-4768-B6C8-2513361F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81B82-8A88-4F41-AB2A-C54D3858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874908-87EB-4B23-99AF-AFDC51A9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3BF945-A1CF-4F1E-AD79-196CB74E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AEAFCF-7D01-42D8-84D9-E3DAEDBE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60E008-7B7F-4804-81A3-BADE82FC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19B61A-C33D-4468-A0B3-0C24BF52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FB6105-A1D1-41FA-A364-C11934FD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3FDF8B-ACCD-4A6C-B1D1-9D05B311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5E15AC-6158-4389-B4EA-0BA69276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D1B26B-742F-423A-9E30-926EC75C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9482A4-84AC-4CBB-B28B-1BA51C5F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9EC354-02D8-4011-A203-AFEDACBE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0B3410-E99A-48CF-AA9C-E39AE40B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5F8A63-BF18-4FC4-B3C8-A2F670E2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95E20E-3D92-442A-9D29-41B3E905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0B8B66-A06A-4C22-9E2D-03337C3C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4F2637-36DF-4DB7-8A8A-1948C739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E0FB38-CCC6-453F-8A6C-97CF0C3F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3412AD-2AF5-4CF8-BA35-0631BB16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1CC12B-2659-4F2B-835F-2DC19F24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45256A-996C-4493-BF67-16379703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1F06EA-E23E-4B25-A059-91FC80FD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989889-F549-4D73-B92D-E6112D43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4E5A3E-AB22-4F51-BF1A-30F549FA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1BC23D-113B-4C0B-B641-E6C5CA8F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路演最后 60 秒：直接演示一条完整经营链路。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A10B7D-2AFC-48CD-9E48-EC9F435F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视频动效位与后台操作录制已放在同一材料包；上台可先播视频，再切到本地 GUI 实操。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0A1482-B09A-4024-A179-29B15CE9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5048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44451daa94278"/>
          <a:srcRect xmlns:a="http://schemas.openxmlformats.org/drawingml/2006/main" l="240" t="0" r="2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619250"/>
            <a:ext cx="4819650" cy="272415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7E28F8-31A9-4010-A22E-D8E211E7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470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视频动效位：后台操作录制 MP4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863B30-0F24-4F18-8FA0-B99454E6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380631-8273-4538-A89E-985BD4F7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51BB2C-2EE9-4820-ADD5-588416FB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路演演示顺序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1E61B7-ECBA-45C9-A9DF-DEE83B1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1. 首页入口  2. 作物监测台  3. 行情/天气/路线  4. 政策解读  5. Kimi 实测证据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05D602-50C3-4FE1-9D26-1DD18F55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241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B76558-B510-4BF8-B108-05154E7C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241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98"/>
          </a:solidFill>
          <a:ln xmlns:a="http://schemas.openxmlformats.org/drawingml/2006/main" w="0">
            <a:solidFill>
              <a:srgbClr val="38679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08A2F4-BE35-4190-AAF1-9345A62F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视频文件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190962-3DF5-405F-BA19-318095D2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AgriKB_backend_operation_demo_20260525.mp4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893921-761A-49D9-A6AA-BD1E7F5E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671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034381C-2F46-4C17-93B9-77769578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671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485686-033C-4F2C-B24D-3CA8FE30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收口表达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7D42E8-D1A5-44C1-8A5D-28E88833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这不是一个农业问答 Demo，而是江苏句容新农人可落地、农业局可治理、企业可采购的数智经营中枢。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40C34E-FFDA-416F-B89C-FC8ADBA0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721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4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452F"/>
                </a:solidFill>
                <a:latin typeface="Microsoft YaHei"/>
                <a:ea typeface="Microsoft YaHei"/>
                <a:cs typeface="Microsoft YaHei"/>
              </a:rPr>
              <a:t>我们申请：试点场景、赛事支持、产业资源对接。</a:t>
            </a:r>
          </a:p>
        </p:txBody>
      </p:sp>
    </p:spTree>
    <p:extLst>
      <p:ext uri="{BB962C8B-B14F-4D97-AF65-F5344CB8AC3E}">
        <p14:creationId xmlns:p14="http://schemas.microsoft.com/office/powerpoint/2010/main" val="181744492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36B8ED5-589D-452B-BB06-A8A75185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A9E26-5677-4295-A8F1-F08982A8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22726-1B0C-49C2-AA00-A2E52599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BCE0D-17E2-4B08-9D4E-A23BED53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8F70D-6606-43FB-81AD-2C541E69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97A11-ADCF-469C-A85D-17880BDF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6FBB3-F14C-4020-B7D3-79D43980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E2821-6778-4814-B800-5C6F6F13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085A7-6D17-497F-8544-912E8B85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57DD1-E4AE-4C1E-A9CA-9EED84B1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6663D-E497-4C0C-BE21-1FFBF2C2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EE197-DC6E-496C-8111-5258BE2D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ADB65-8312-4972-BE66-71CBBE00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DC65E-49BF-4A8F-821A-1E48712B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761D0-9D8D-4EB7-8EE1-86D4282F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AAD30-3F79-49FD-BE6D-E10F4EA5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F0311-611D-41D7-B754-A5F81882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2BB10-019D-42BA-AEB5-4E958AAD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60DF9-9A17-4AD3-8EE9-62525A17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4F7C9-7ED6-48B4-ADC7-D284C66B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870D5-019F-407F-9E4C-BE53D6E9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6BA5A0-B92A-4EFF-9653-1D09554A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924ECE-8485-46C4-B7CB-25737CD6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E6F6D7-C940-4166-B5C5-B8CCC6AA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033F9E-95C7-4915-9CDE-2040E130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4637B0-D13E-460E-8398-22384F12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9142E4-DDC9-4639-9799-FC72B9AA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EF20EA-06B8-4DE7-92AC-7C105C40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40C0C6-BB1D-4956-B98B-C42BE544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78A9E1-965D-4788-BC21-2C4D05DF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608000-75E8-4A29-B425-8FE5912F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328C22-C1F1-494D-9F4F-CA520EC9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09C519-C37D-4C5C-BE4E-DDC9B0FE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24464C-A32F-4A1D-ADEF-9BAFDD62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BD00D9-B347-457B-BDD9-B43A1592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230237-0C60-4C2F-BB12-010709D5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8752FF-74EA-480E-9BEE-0404E273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DCFB79-D401-40BB-B8F2-04983194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C38228-19DB-4BDD-844D-7A843DA3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875083-036D-4EB5-9AE3-2F7E3888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BD12F7-5979-4E4F-8569-39B18B29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0D4676-439F-4EB2-B618-AA19DD99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12F7E9-E3C3-4518-9052-A4A0DA93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C10399-707B-4D1D-8B90-7E389D2B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648529-BFB7-45FF-8FBA-7C0351B0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D142C6-661F-4C6D-BA7A-56DFC446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145902-C919-4983-97DF-898426EC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1A4AC9-5BA6-4DE0-B75A-81BE9990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增长机会：县域农业需要一个“经营操作系统”。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C6A99C-C5FD-4702-9A04-BEDBD7C2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政策、产业、人才和 AI 技术正在同频，江苏句容可以先做出可复制样板。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A90049-ABC3-47EA-AB8D-AE67889C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2CB4BD-0426-4219-A087-E5F06F84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1233BA-0D4D-431A-9FCC-4C4D85C4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政策牵引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C62441-A352-4127-9BAA-DEB4EF3D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000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三农、数字乡村、人才创业和农业产业链现代化同时发力。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CD6833-AEF2-43F6-A4D3-429CF2B4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3AE00A-48E2-49E7-92D2-F8F05C34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98"/>
          </a:solidFill>
          <a:ln xmlns:a="http://schemas.openxmlformats.org/drawingml/2006/main" w="0">
            <a:solidFill>
              <a:srgbClr val="38679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E4AC4C-4ED8-4CC4-BA28-35F85E29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85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产业牵引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24CAA6-94AE-4C51-8B05-CE63DECE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09800"/>
            <a:ext cx="2000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草莓、福桃、蔬菜、茶叶等特色产业需要品牌化、标准化和渠道化。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76A9E15-DD1C-4DCF-8C44-5C3B3B9C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ED00DF-693F-46D0-ABB6-48C79FBC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4195A4-0CD1-4E3D-B866-42BBF50B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技术牵引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1DEB53-07F8-494D-A8B3-164F3FDD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2000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RAG、知识图谱、IoT、实时搜索和大模型已经可产品化。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91C4DCD-250C-4757-A4FA-56378B0D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947AE8D-76BD-41ED-AA37-1837E32C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436"/>
          </a:solidFill>
          <a:ln xmlns:a="http://schemas.openxmlformats.org/drawingml/2006/main" w="0">
            <a:solidFill>
              <a:srgbClr val="B0443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899C78-D713-43C2-AE4B-57F9637C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资本牵引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152120-3EFB-438E-88B0-A57E6B75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2000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政府 SaaS、企业采购、合作社服务和渠道生态可形成复合收入。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95FEB66-E892-4968-97C7-5B539062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D9EA66-E08A-4069-B50E-E5EA3DBF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1A7B813-5A3A-42A8-AFBF-24B5AA41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62500"/>
            <a:ext cx="956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产品破局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904B3C-B375-4873-A56C-7043F8F8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86350"/>
            <a:ext cx="956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把碎片化信息整理成“一个问题、一份经营判断、一组可执行动作、一条证据链”。前台只呈现清晰建议，后台沉淀成本体、规则和经验。</a:t>
            </a:r>
          </a:p>
        </p:txBody>
      </p:sp>
    </p:spTree>
    <p:extLst>
      <p:ext uri="{BB962C8B-B14F-4D97-AF65-F5344CB8AC3E}">
        <p14:creationId xmlns:p14="http://schemas.microsoft.com/office/powerpoint/2010/main" val="102650017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229E97D-85B3-4B30-AF48-39D54093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241F4-22DE-4F1A-B5B6-66206AFD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7441A-F060-4D21-8444-658C3559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E5C48-C999-42C2-A948-20A00C3E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10FFA-C1B8-4A63-B7C2-8B16E953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F90C4-34E1-4EFE-9CC4-E2B3E047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58E76-C99D-4464-880B-27E12847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ACFF3-A308-4B1F-85AF-D0F0A717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055FB-BD94-4A40-8602-C2C4A6F9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3DF0F-264B-4F7E-A682-2C0340BD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D89AA-7273-4B2B-A98B-88ADB7CE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2AF56-37CE-46EF-9D41-BECE582A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580D3-D3E0-4DCA-86EB-DE9D19BD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8CE27-55B2-4C10-88C9-866810B8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04FD7-3613-47B1-986C-9B5DC5AF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C2D16-6B12-4220-917D-82FBF9EE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C2E11-0C6A-4579-9C7A-F9AFA3B5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9DEC0B-5EF7-4C22-AEC3-D381E37B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03FF7-E35C-4600-8B3C-FE2A948A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81A94-F5FC-425D-8CE5-16E5257E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E1784-95FE-4272-A1C8-12390FFA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D94A2C-8A0F-4A64-87AA-5C241160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ACD5E-2B4A-4CB0-A9EB-07C8A0AA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148E9A-F105-4562-837E-7384E1F8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8F8A33-A09F-4EF9-B389-725D9B48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988F38-186C-4867-BADB-B48C97A7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58F896-80F1-44A5-9271-A2401D4C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CB4D3F-A7E9-436C-9E21-853A21FF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E781C2-4C0C-41BB-9AD7-77E6D978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929F42-BF0E-49F2-88E0-2C5DF5AF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BF7551-FF9C-4741-969F-DC1F6C8A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46ACFE-EEDE-4C9C-BC14-D520F5A6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278D3E-BFED-4F8D-9F02-32E8D2CA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48930A-15A0-4CE4-BFE3-0E55D96B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FD2491-E719-4287-B628-BAD3E4B5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B3D826-8AE0-4BE3-9039-BDE194FB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75856A-2F45-42E9-99AE-D3E6C42F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812334-CBA8-4975-A4F5-EC2A677F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C0A4BF-962D-49A5-B306-ABF27A6E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EB6695-53A0-4DD7-B6A8-347D6926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B50806-DCEF-4152-BF64-495DB5B6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9447BA-49F4-458B-89DB-35F1506D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D52609-C421-4FBA-B3A8-01533A4A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BBBB0A-2600-4F5F-ACF6-17657634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5A75C4-AFF6-4275-9065-A17188A9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EA85CD-0E67-41BC-A93D-A35CE16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0A5FA4-D3A5-491A-834E-AB4174C5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655DF9-2648-44C2-A041-461D4EE9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三类用户同一闭环：农户、农业局、企业互相增益。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C49F65-3CDA-4A4E-9E56-1D0A33CA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一个用户产生的数据，会帮助另外两类用户更快决策。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04E558-D90C-4A70-96CF-FD742019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11430">
            <a:solidFill>
              <a:srgbClr val="26704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F7B19D-9B57-4998-A53C-E2477D08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2B29FE-C89E-476E-893F-7AE56DB5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农户提问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F33136-D94E-4E04-8BA4-B0578009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采收、销售、补贴、天气风险。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EBA835-6FE5-4F90-BA89-4035625E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45BBF0-7612-41B2-858B-B730F5E9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38679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1754D4-D862-44CB-8068-5E29635F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717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5F9520-798B-4585-8FD9-83740867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908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农业局服务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1390400-BC04-4368-BFC8-F6B110AC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718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政策匹配、主体管理、产业监测。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499189-F347-44D7-BF67-DE4F5D46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670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7BC0D2-2D85-4F2A-BFF0-CFB98D4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11430">
            <a:solidFill>
              <a:srgbClr val="B47A1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59D83E-916B-4A92-9B58-6FF65C76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717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18B04A-C3EB-4BA7-9EEB-7628CE71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908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企业对接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D6B9A3-7A10-4BCA-8626-A015C94E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718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收购计划、质量溯源、冷链路线。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708624E-DA0B-4825-B659-6C66DD5C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045322F-930C-48C8-AC2F-35E274AA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11430">
            <a:solidFill>
              <a:srgbClr val="B0443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071E07-C364-48CA-B43A-FF88EB34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40CF2C9-F5B8-4EA8-AB41-6FE5E172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结果回流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1E639D7-5C75-46E8-B991-1378B358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交易、申报、风险处置进入台账。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D8CC48B-4B2F-4518-B2BA-EF8C0431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670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91D0221-62F2-40DD-B0D9-CC023E4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002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6704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042E270-648E-4AD7-A3C2-B8FE4042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717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C1D6033-898F-43E8-93D0-925288B4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908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经验复用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9508260-9216-41ED-9073-76C2750C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718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规则和本体让下一次更快。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F61ECEB-EF0F-4C19-A8A5-D176E5F2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971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A97E625-AFFD-40F0-BECF-1FDCF7C2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72BE2DF-FFD5-4A3F-B92B-F2648F0E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57700"/>
            <a:ext cx="937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农民看到的不是技术名词，而是经营动作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266B8D0-B0F6-41B8-8F7A-902D8D06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9372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先采哪一批、卖给哪个市场、是否要冷链、能不能申报、风险怎么避开。每次回答再把结果沉淀为经验规则，下一次同类问题更快、更稳。</a:t>
            </a:r>
          </a:p>
        </p:txBody>
      </p:sp>
    </p:spTree>
    <p:extLst>
      <p:ext uri="{BB962C8B-B14F-4D97-AF65-F5344CB8AC3E}">
        <p14:creationId xmlns:p14="http://schemas.microsoft.com/office/powerpoint/2010/main" val="116241514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2A5F8AC-BF3A-418E-91C9-87531CD3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8EA4F-7B1C-4E0A-B64B-FF17D930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E8FFA-640C-4CA7-973B-C609C40D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7D1C7-3E18-4071-B6C2-AE19020D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BE887-E0D7-40E9-B26C-847F9F4E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1487F-1039-426A-ADB2-9E5AEFAA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74D39-6DAE-424A-8C4F-B7EBF893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91F71-8740-4879-9765-F3C8971F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B2BA9-A948-4847-AE4C-B5AB1FD8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9BCF9-5963-46D9-80B3-049EF1AE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934CB-CAAE-44EB-944D-7E116E64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4AC31-B505-4972-9E99-BE5A0004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C63EE-4F07-491A-B43A-2EFBFB25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B13A5-A0D8-4A6C-9D2A-F4AE8AFA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EACDA-FE9F-4B74-A753-14D0B07E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FE9C2-FCAF-4855-90BC-0BBF1E7B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3169E-8E9B-4F22-ADE3-34BAF655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55F4A-16DA-433B-B2F2-612904EE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493A2-7608-4A30-B83A-C6961DC7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25B3D-0012-45D3-A8D9-D7647F75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7F9DD-B41C-4320-A95C-75EBB59F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7EF511-A208-4379-ACE7-CF5123A8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FE35C-E579-467B-96DE-0FBFF10A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7DE52-8DEF-4925-A248-841176B6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1891E5-9877-400D-AB2F-8B963BB3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8F3832-C62A-4070-BC36-3DE9955A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D5FFB0-69FA-47B7-BBDF-25A9359C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3DD27-0019-4EA6-B9EA-6FD74CE7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7C54E4-F0B6-49AF-BD5D-3DD7155D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760224-6D90-46A9-A19B-6CAA6ED8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79BE7D-183E-4823-9997-564026B1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7BA1CB-5A5A-492D-AF6D-C0C0F38F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CF31C7-69AC-469F-817C-462A54B3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1D0319-0095-4FA0-8A8F-2BBC9F6C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8085E6-30AA-435F-AF6E-672054B4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8F0B3C-40A5-4957-9664-4E75B0B6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883666-A475-41DE-99C5-E74A544F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134B91-8FF3-4888-833D-03F60C8A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29B11C-1F22-4A43-A9C7-36E8F155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9945F2-CE4A-45AF-BF0B-7A41A5B3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B29BB7-F08C-46C6-954D-D7030683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B0A51E-6026-4A70-84B2-B155CB52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DD8F39-ADA7-4CA3-BC26-19F52F6D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9BAFCF-EFD3-4E94-98BF-57F88D07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7FDF0B-E5BE-4780-B904-1B7D1776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2655F6-CDC6-456A-8DF5-F509B23C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EAB488-BCA3-4192-B3C0-BF1F6B63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3DB5F5-650E-47DE-942D-8182C4E1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数据接入架构：公开知识、本地资料、实时网页和现场 IoT 统一成证据对象。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6CD664-16DD-4AE5-A6AB-B58D5186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数据不是简单下载，而是带来源、时间、地区、许可和可信度。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81E05E-BC70-4E4A-828D-A16BC250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11430">
            <a:solidFill>
              <a:srgbClr val="26704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1D5EA3-53CF-4DFF-8D4C-B6A79CC8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526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公开知识源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217962-6AB5-4BE9-B713-B0F1212D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14500"/>
            <a:ext cx="733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AGROVOC、Crop Ontology、Google Earth Engine、台湾农业开放数据，提供术语、本体和样本数据。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772BA4-6F20-4900-A89B-8A591CCA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241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486ED1-C692-4EEC-BB72-90B571B4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11430">
            <a:solidFill>
              <a:srgbClr val="B47A1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0B3426-1587-487C-8F8C-F38D851D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本地知识源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0E0E22-2999-478E-9A46-CF279CC8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733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江苏句容政策文件、农业局公开信息、本地产业报道、上传文档和历史会话。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83DB02-796F-408A-BC28-6F09DE64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337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D5928C-6272-415E-9203-9280D2DD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38679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B7C412-4618-4B7D-B263-B64193E5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实时信息源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A8C4C3-2C3E-4A98-87FE-F0298F99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33800"/>
            <a:ext cx="733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天气、行情、新闻政策、农资、物流、市场和招商人才资讯。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209B971-F195-4529-ACDA-3680A39D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434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9C4942-9581-442D-AB38-B2B1257D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11430">
            <a:solidFill>
              <a:srgbClr val="B0443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9EEFD05-0AD6-44B2-AE00-4BFC50E4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现场数据源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A45FF0-D5F5-4B9C-9B54-36EDDF37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43450"/>
            <a:ext cx="733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大棚传感器、人工巡检、图片视频、采收记录、包装运输和质量溯源。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D817A58-1EE6-4DF9-AC82-67279BFE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FEAC7A-0154-4B4A-9931-CEAEB500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4EF760-1E48-4677-8A50-24A5AD79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05500"/>
            <a:ext cx="908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架构价值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7C879AF-0449-4A17-AFC9-73C46D5F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29350"/>
            <a:ext cx="908685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数据变成证据，证据变成规则，规则反过来优化下一次经营决策。</a:t>
            </a:r>
          </a:p>
        </p:txBody>
      </p:sp>
    </p:spTree>
    <p:extLst>
      <p:ext uri="{BB962C8B-B14F-4D97-AF65-F5344CB8AC3E}">
        <p14:creationId xmlns:p14="http://schemas.microsoft.com/office/powerpoint/2010/main" val="7559576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0D9ACD4-1773-4A9D-8D02-421AA5DD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01B92-68BA-40A3-97B3-F71E7B4F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00F10-95E4-415E-B6A0-51477A3F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408A7-B1EE-4FCF-80D8-53179684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8D4BA-658F-4D8F-AF32-8EB763D3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B6240-C343-40B4-8857-A6151E20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FA403-4D0F-4C21-B4DF-790FFCC4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A9C16-12B2-4DF8-86C9-62DC8ADD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280BE-E32B-4A97-9AB3-18BA4315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DF526-CB2E-49B3-9E61-41DAFA50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506C1-3BC3-4D75-93B4-1C0D19F2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4CE6F-A79D-4B55-893B-48FC2676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63676-D0B0-46F1-B500-23AEBFAE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D9461-58FE-4671-AD11-229D5000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03D76-5EDE-4309-A92E-E2882EAA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9709A-B9E3-4777-B40D-FBA570D0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44340-CE15-4076-A592-8D4D2EA0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D665C-83E5-4C9A-B707-CF51492B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E359C-9CEB-4959-B907-B082E201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B15A11-B7FC-4DBF-B25C-6C3136BA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4E6BD-BE9E-45D1-BBBB-F4E00478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7CF0F-DE2E-48EC-BECA-27D4FF94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C76CA2-8150-4C27-A466-370827A0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DC5E4-4AD1-448E-9A11-9F3D6259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7A3EFE-6332-4FBA-9990-7A1D783B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CBBB7C-E265-4056-A51B-3BBC2592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B5F3C6-B73E-435D-A141-8BCF1E93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1D10FB-7074-40DE-8815-48EA66FD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D34D33-CB49-4D81-9A18-46B8FC7A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51B9FA-A288-4A57-B47E-837DF3B2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D0CE81-9957-47BA-93EA-8F9AD0FB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9DABEF-47EE-42F1-9013-3B6D1401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A0A586-6E00-4298-A2C5-3D9FB576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2502D2-8BB6-4037-B4A3-427BDD09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C752C3-B7AA-4616-AE14-69AFD972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71717D-FB60-4FD1-937C-3E37BEF4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FB7700-7B74-45FD-A93D-6C7E8277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76BBFB-8E35-4A40-8726-637250BC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CE6BBB-E510-4C0C-ACE8-02ED6FCB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D0FE98-C9CB-440B-9ABE-40D31DDD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FF5A31-20A0-409E-BEB3-59FE58E8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3C0953-445A-454E-8FE1-F55559C6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D414C6-1FBB-453D-8F0D-28B687DD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83DC6F-6D27-4268-98C5-4402F13A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33A311-A3B8-4B2F-8264-18B18371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125D43-2AE2-4D83-94DD-E6071B29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2BD6AA-6FC0-4335-975F-3979197E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33083F-3311-416A-8D8E-2CB5618A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Ontology 深度页：让农业信息从文本变成可计算资产。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838B1E-6F2B-4D9D-8E2F-A8F80F40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每次查询、导入和解释都能沉淀到本地 ontology 管理目录。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6D66F3-6CB4-4AF7-BAC0-66D0C79D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11430">
            <a:solidFill>
              <a:srgbClr val="26704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D3E617-FEDA-4CEC-81FF-03C83917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作物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44112E-FC55-4360-868D-90D6A31E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草莓、福桃、蔬菜、茶叶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66C50D-6F45-4AE5-A702-B69ED826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526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38679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04DDC1-20D1-4958-9777-83C0A8C9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85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性状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7CE374-1AE1-4465-B236-D68426C9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717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成熟度、品质、耐储、病害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C4432A-CADE-45B6-919E-A2742415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11430">
            <a:solidFill>
              <a:srgbClr val="B47A1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9065C8-9FED-43A9-86A4-C07B65E5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变量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668838-B61A-428A-B052-D78B6ED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温湿度、光照、土壤、水肥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1B48CA-00B4-4A87-8A5E-AE5FF90C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526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11430">
            <a:solidFill>
              <a:srgbClr val="B0443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4EFC370-5DAF-4DD7-884F-F0F543DB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85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43660BD-B055-498E-AE5C-E7E9F9EA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717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通风、遮阳、补水、采收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B274C9-35A2-446C-A8BF-CC3FDB7E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6704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2C3120-3768-4C89-A26D-C702C6B5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政策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21B01F3-27B5-4C1E-8937-759DF8D6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对象、材料、窗口、部门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C91CEA-67FD-4857-B695-DCBBA3C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99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8679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CE164F6-23D9-4C28-A919-4A4E7764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432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BF0EE9C-F574-445D-BC95-72B26837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290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价格、收购、渠道、冷链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A1429BE-96BF-4701-9FC6-8D4C1B5B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47A1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4FDB2B2-9419-45CF-95F1-6421ED6B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主体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3E824F9-23DF-4A2C-A08A-D138B7B9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农户、合作社、企业、部门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44CFBE-E7C0-4C87-A600-8269B63F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99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04436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E350B30-C56F-4A24-8515-62D11627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8C0DE9-5022-4835-B782-8671D76D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来源、时间、可信度、许可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69F80DC-D8FB-4F17-B564-95AA5A3C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4857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E2A6E5-4A27-451E-B261-80FDB0B4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0CF3C64-8F63-4413-8AF5-20C3B830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451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本体组织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EFF74B4-7F81-465E-B786-F40512C0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43500"/>
            <a:ext cx="451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作物、性状、观测变量、价格、政策、渠道、主体、地区统一编号，新增查询会自动沉淀到本地 ontology 文件夹。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B4CDE0B-127C-4F50-877F-8DBFA249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4857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87A86CB-BAAB-49A1-AB70-6B6B3A85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98"/>
          </a:solidFill>
          <a:ln xmlns:a="http://schemas.openxmlformats.org/drawingml/2006/main" w="0">
            <a:solidFill>
              <a:srgbClr val="38679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946C8A9-2E98-48A7-9687-9663C2F5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9650"/>
            <a:ext cx="451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经验沉淀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B34DC2E-0C3D-4AB3-B467-713FD9F1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43500"/>
            <a:ext cx="451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用户问过的品类、行情判断、规则解释和导出材料会沉淀为可复用经验，不再只停留在聊天记录里。</a:t>
            </a:r>
          </a:p>
        </p:txBody>
      </p:sp>
    </p:spTree>
    <p:extLst>
      <p:ext uri="{BB962C8B-B14F-4D97-AF65-F5344CB8AC3E}">
        <p14:creationId xmlns:p14="http://schemas.microsoft.com/office/powerpoint/2010/main" val="61718343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55063B2-5E8F-436A-BC7B-6069D2BF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A782E-9510-4C7B-860E-954D6D64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484D8-FAD5-4F36-930F-24D82579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F3F5A-44EF-4D72-9BFA-0947A198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3DB04-80F5-4454-B1A2-941AF4D3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BB63D-B6A6-44C7-BDFC-68CB4EC0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3D833-266D-4685-8B52-E69436F2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D2309-3845-47BA-B0A4-B5A80A14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C1F65-D6CC-49ED-88AC-FF249603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25385-4021-424C-985C-C28476D3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99F43-121D-4C33-8D68-A1C93DA3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92A28-1F3B-4F27-8806-38399662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29135-CFCB-46EA-B8CB-869CF52E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74551-E5DB-4372-B98A-F4433ACF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64655-1DC0-4E6D-9E74-BC8B4B9D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AD77B-E3B2-4D75-8003-F06032CC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0B554C-013A-4373-B556-8E0334BC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37423-7D3A-42D5-BF1E-367F87DB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6F8B5-E059-49B7-BD84-FD8A5683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06A90-2CB6-4F9D-8710-88844AC9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FE2122-C0E2-4893-BC4C-0B64CAF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B7BBD-DBFF-4030-A580-0CCA3555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483AB-635C-42C5-B8EB-EB4EE249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0FD89-3619-457D-BCAE-ADB3A108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445746-01B6-482E-86D1-42238D1B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1088B-B870-4CA4-BC41-AA0788D7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FC726B-C99E-4A69-8E08-02ECDD0D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6A7AC3-FBAE-4DD9-B793-10683BA3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BBEBEF-367F-4841-AC15-BBE06ADB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C057F0-CCC0-42A0-B43A-62BD49D5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3ACF11-DBC1-44AE-BCF2-0A86A2EE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01C9-2A9D-4891-A5EC-2BF87045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94C00F-104C-492E-9EED-758E5BB8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2C40F7-8517-4C09-8CC8-7F64D4C4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BE73B0-FEA6-405B-9DD6-3B445366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BE4EB8-7734-49E4-81E6-8832D143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002DB9-F583-40AE-8439-25524724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136D4D-5256-4012-9112-9315C58B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5DACCA-EB0C-41EA-9486-3D5952EA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04E490-A503-4A98-B381-5F9B72E6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88B533-4F98-44D1-B204-DF499D40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8EEA8E-C0A5-4626-A732-7201137A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4F358D-7DE9-4729-A579-93E6F369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87F393-D5CB-4E76-9F31-34A22632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01A0D6-1BC0-489E-82FB-BFB11BA9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B8A3D5-D357-48AA-8E34-E3001C23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86113A-B0FA-48EE-8CA1-2A01DD30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E216CF-6624-47BD-9DF2-8D139411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经验沉淀：把一次问答变成下次可复用的经营规则。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73B869-2B66-44D7-A0C7-061BE931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越用越懂本地农业，越用越能服务更多主体。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27EB8C-7B71-4C49-8BCA-27FF1F6B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44BD5C-C582-4CEF-86C7-0D613074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73E7F9-3886-4685-8D5D-0FED6634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规则提取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5C5295-BDFF-42A5-8539-6B6E3913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000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从回答和证据里抽取条件、判断、动作和边界。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2ED41D-D78A-4EA7-BA7B-58DC8ACF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DD1E3C-3AF1-4B84-8EB0-A987A4AF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98"/>
          </a:solidFill>
          <a:ln xmlns:a="http://schemas.openxmlformats.org/drawingml/2006/main" w="0">
            <a:solidFill>
              <a:srgbClr val="38679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EE5BFF-98D1-4C89-AED9-82A3BCE6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85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AI 解读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9C716C-5E98-4F9E-A51A-5A0AE91A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09800"/>
            <a:ext cx="2000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点击规则弹出聊天气泡，解释适用条件和风险。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4415DA-31CE-45D5-80C8-ED3794FF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276BB7-CD99-4D3A-81DE-DF3F98C1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015923-1532-4200-9D9D-46B3062D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导出复用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CB99C03-4C22-4610-A0F1-43930AFF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2000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规则可进入报告、培训、申报材料和治理台账。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1E4EBB-4E6E-4D95-96D0-C8D89248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06B6066-C033-44B8-9C04-37D9ECFF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436"/>
          </a:solidFill>
          <a:ln xmlns:a="http://schemas.openxmlformats.org/drawingml/2006/main" w="0">
            <a:solidFill>
              <a:srgbClr val="B0443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9100EF1-D513-4789-8D32-E37076D3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资产累积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C0E1DD0-26D4-448C-ABE4-BB9AD2B0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2000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合作社和农业局沉淀自己的县域经营知识库。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B7025B-5D9C-4611-B952-A934F0D0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A8D307B-6A21-45BE-8514-E7D348D5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94EF7F3-6DA8-464A-A73E-1CDD51B2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62500"/>
            <a:ext cx="956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产品破局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F1BCC50-8524-4717-A4D9-4FE2614A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86350"/>
            <a:ext cx="956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把碎片化信息整理成“一个问题、一份经营判断、一组可执行动作、一条证据链”。前台只呈现清晰建议，后台沉淀成本体、规则和经验。</a:t>
            </a:r>
          </a:p>
        </p:txBody>
      </p:sp>
    </p:spTree>
    <p:extLst>
      <p:ext uri="{BB962C8B-B14F-4D97-AF65-F5344CB8AC3E}">
        <p14:creationId xmlns:p14="http://schemas.microsoft.com/office/powerpoint/2010/main" val="140673789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9A82AC7-F108-4761-A9F7-4842B7E7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F2F45-A97B-4B32-A631-CFD15C43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E7FA2-81BF-470D-AF7E-7C93D9E6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79CE5-FFAE-4F68-B14A-110B9EBD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055E1-2FA4-45DD-B3EA-51BA2AA8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478EA-C7D5-4D99-BB33-AE929C60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C7DDD-8D3A-4016-9CD0-9B913D4A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95C1F-589A-4056-B40C-2ACDAE1E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E8330-0546-488F-82CD-35E97DDC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14F65-C3C3-41F9-82E6-7C4D09C7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E5001-5F37-45E1-90A3-8B1CB78E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C348B-A1F8-4143-9AAD-630F071E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4E1B4-8596-488F-ADC6-AAADC8D0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E1590-F62F-4904-AE62-74561C2F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3FD4F-FD77-4E44-9112-543AF497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E943B-DFAD-4E08-8F72-DA77447D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7C04B-EE74-47F9-A046-275968B2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63F82-D5C5-4EB3-8166-00A0EFB0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6193C-4BAC-4683-996E-F78303D5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C4B3D-FCA7-4A66-B354-9753261D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C5B73-FE77-4BD9-95D4-4844B6FB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68EBC-2E4E-4D9E-BCD4-C071FD1A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450096-F0AC-4184-A0EA-96CD3CC0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58252-478A-47C1-B4C7-9426AA33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04EDD8-F167-4B52-BBE0-B4AA64A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011579-1709-467E-B1B4-F0C45AFF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AE94B0-BB6E-472A-B4D5-E718C0D7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E7D2BD-358B-4E99-B3D1-C48CD8B2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D492ED-EB18-496B-9900-320970AC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AD21E0-BAC2-471A-8002-37E1A5FB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38BBBD-7E6A-4CBA-9EAE-5D9EB487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DEB36D-C84C-42CA-BD37-70521062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3E0596-4D8D-45D2-B9CF-0D46CAB7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366EB7-1BB4-4040-B00F-D5026E34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846F6E-1ACB-4786-A5FB-857D3087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8CF720-17EB-4E5B-9EDF-5A8EC18F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45C2E9-0EBA-405E-AE7F-EC1D331E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EC1B27-441F-46CB-8C53-9F87A02E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3080AD-2652-4D78-8FFA-7DAD4116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0FF3B-2771-4A78-9E2E-C2009137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5B6A17-568D-48B9-AC9E-DB914EFF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08250A-641B-4666-B502-A2912C6A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84EACC-A9CE-4406-88F9-DE395B66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CFA45E-A048-4BB7-809D-07CC7D70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C99402-BF33-4D7E-9E39-C091F1BA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67CC90-70AA-4923-912A-B201B739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7E9398-1D3D-4674-BD29-F9BA255B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A99807-DA61-4D85-B27D-960DC6D5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RLM 递归推理：农业决策不能让模型一次性凭感觉回答。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209FD2-F9B0-41B9-8D40-9885D9EC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系统会先判断证据够不够，再决定补查哪些信息。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006B79-AFBF-4928-B7AD-EEED3FE7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527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452F"/>
          </a:solidFill>
          <a:ln xmlns:a="http://schemas.openxmlformats.org/drawingml/2006/main" w="0">
            <a:solidFill>
              <a:srgbClr val="12452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11A30A-43C3-4A39-82AA-8CA7DBCD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RLM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递归推理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C6165E-4992-4D86-9A67-1013D1F1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009650"/>
            <a:ext cx="179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10478">
            <a:solidFill>
              <a:srgbClr val="26704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80E0BD-B28C-4599-9146-8D975476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1049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识别任务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B2862D-1AB1-4798-B053-003A157D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371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生产、销售、政策或风险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A2511C-C3DF-4BAA-A4B9-E8BD8FAB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073" y="2009775"/>
            <a:ext cx="179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0478">
            <a:solidFill>
              <a:srgbClr val="38679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DA4DE4-51E5-4D2C-80ED-73769EC2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423" y="21050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检索证据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82A246-26C8-4863-A31F-F19F7A05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423" y="23717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知识库与实时来源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AB2899-3349-4DAB-BECD-03C7A1E5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073" y="4010025"/>
            <a:ext cx="179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10478">
            <a:solidFill>
              <a:srgbClr val="B47A1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5A82F3-9FE6-411A-B4F2-543EFF25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423" y="41052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检查缺口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DB81C8-C4F0-495F-B15A-38F69FDD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423" y="43719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时间、地区、品类、主体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0548EA-DEC2-4F09-8821-5D29BE46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10150"/>
            <a:ext cx="179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10478">
            <a:solidFill>
              <a:srgbClr val="B0443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D3ABC2-1E16-4FE3-9DBD-196F9196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05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补充查询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A43B08-F753-42F9-8431-73C8074F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721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天气、行情、政策、路线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323CDD4-038E-401F-B717-85D028DE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827" y="4010025"/>
            <a:ext cx="179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6704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CC8DDD-850F-4195-9C75-188F2BD1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177" y="41052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生成判断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AA2066-46E3-4D2C-9706-C658F2BE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177" y="43719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结论、原因、动作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255B69-3633-46E3-B60E-B4905EB4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827" y="2009775"/>
            <a:ext cx="179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38679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EC3323-5969-4E75-9BEC-4D054846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177" y="21050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沉淀规则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FF589FF-86C2-4B2E-A718-6EFF6E58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177" y="23717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会话、证据图、经验库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0B84CCC-6D54-44E7-8532-DBA26BCC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975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DDD0183-D071-4D93-9A12-CB467D7B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75D1C37-B6F5-4BBF-BEAB-B437BB35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10250"/>
            <a:ext cx="941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递归不是玄学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53FE4B0-DA1B-405D-BD71-E491D71D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134100"/>
            <a:ext cx="941070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系统先判断证据是否够，再决定是否补抓政策、行情、天气或规则，最后输出可执行建议。</a:t>
            </a:r>
          </a:p>
        </p:txBody>
      </p:sp>
    </p:spTree>
    <p:extLst>
      <p:ext uri="{BB962C8B-B14F-4D97-AF65-F5344CB8AC3E}">
        <p14:creationId xmlns:p14="http://schemas.microsoft.com/office/powerpoint/2010/main" val="129279192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D0F9EEF-EF1C-40AF-B562-87AB50CA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42E68-3125-4A12-970C-6FF8BFFB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04EB8-4E6F-4FF2-B7E6-E3C4124B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92ADA-8F64-4289-BD36-E7FB5CD7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43900-0FAF-40E5-8E77-4B76963A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1EACD-00B8-4773-B834-591D7E87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48821-1EAE-48F7-9DCC-DEC6E7EE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C2AE5-1A93-4659-BF46-C916D47E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56609-574D-410B-A88D-A0705B74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9CBC6-D308-4007-8252-ED77E575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9DD3A-B13F-462B-89F5-65F014AD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9BC62-0D62-441F-B8B2-237B1682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A0131-35D2-435C-B43A-40224BB4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E0881-A35E-4E91-B588-E5A3DF13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13234-FCE7-4305-8AD8-5A4FD3BD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322E9-34B4-46A5-BD6E-F34415FB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78A49-AA68-40E9-A144-3DFF7AA1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84701-41FE-45F3-AA4D-12B1BFCC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D45F9-7329-43D8-BFC7-45BB8EF0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E64A2E-AAD2-4857-B74A-78F8D8D2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5A7ED-EDDD-47B8-858A-B4CE8681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3A27B-E47E-4C8E-8812-0D4716F3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2F684-3634-4476-8527-78B9C3A5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F6783-9BA3-48DD-96B5-47F0D513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D1C7DE-392F-43C9-AE91-6615F5F7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37774-568E-4D69-88B9-12E22951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C3CF8-D2EA-4A3A-B265-20EA5A9F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B901B4-2587-4BDB-86D3-5CE841B0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E86154-488F-49D7-BFF7-9E9AC558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94BF39-5B11-4928-BDA6-ED840A85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11B269-4CDF-4A68-A5AB-280B4891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4BBC4A-7072-47EF-BEAF-D6CE1DB2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199D3A-7C11-447E-A796-FDA97B41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6F943A-E6CC-47F2-82D9-2795A50B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7BC889-187D-4813-AF8B-AE502062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D7F842-6FF2-43E6-93FA-B478B828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D1CE4D-AC22-46C5-B2A4-3B9A465D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E12EF8-9175-492C-9414-C8BB9FFE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D261C3-69CB-4AA0-A416-C76FFC43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DCAA92-DD3B-4379-AF48-9E5D9078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B76819-6106-4662-B013-AF690C62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A54A67-9653-416B-A8CC-5FF28E74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D6B4B3-9A8D-45E0-8CCA-DBC35231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E1FC45-9114-4478-B2CF-28118E30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72237E-582E-4AF8-B6F8-270D740F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702493-C2A9-454B-A3CB-A75324DB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A7597D-B26F-45E2-B287-7B246D56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EC5306-CA3C-44F5-89A6-1696C42A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IoT+ 现场接入：从一个大棚，到多场景智慧农业网络。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C941BF-B140-4AF4-AC68-9BD022AB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作物监测、边缘网关、AI 中枢和业务动作形成闭环。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28DF87-38A3-461E-AA0E-EAFA1665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11430">
            <a:solidFill>
              <a:srgbClr val="26704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7EEC43-743D-4DE1-8484-51B2FE93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526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现场感知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DAC99E-18F4-4BD2-A92A-3AD6A5F1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14500"/>
            <a:ext cx="733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传感器、摄像头、巡检记录、采收记录，覆盖大棚、果园、仓库和服务窗口。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04A495-F483-409F-9DEF-2933D73F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241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35D69D-4C40-422B-A47C-B7427647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38679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3FB881-C6F2-4068-BD39-3F8F4597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边缘网关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9452C2-E254-4442-91A0-0F1F574E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733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协议适配、弱网缓存、数据清洗和本地告警，保证现场稳定运行。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D9157A-39EA-45B3-AE83-706A5DEE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337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31042C-4244-4EE3-8AAB-C9C55E1F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11430">
            <a:solidFill>
              <a:srgbClr val="B47A1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3083DE-8C8B-44EA-953D-5A32BA45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AI 中枢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8DD73D-38E3-4DF1-9C34-0C390297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33800"/>
            <a:ext cx="733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Ontology、规则记忆、RLM、Kimi 和本地模型统一判断。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0C1FAD-F3B8-412B-B4D6-A304BC49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434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5409414-426B-4902-B087-9AFFA124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11430">
            <a:solidFill>
              <a:srgbClr val="B0443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D87110-0A00-4EE1-A36B-DE2B4864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业务执行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02603AA-085A-45D9-95B9-E47AF1CB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43450"/>
            <a:ext cx="733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通风、补水、采收、包装、销售、申报、预警、溯源和调度。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593D4A1-055C-4CBD-BF95-25D05F97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D0A6C3-B675-4C41-A32C-02057253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DBF28F1-FE0A-4CE5-9626-3BCEBFE2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05500"/>
            <a:ext cx="908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架构价值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AB55618-AF17-4138-B8EF-9934F87F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29350"/>
            <a:ext cx="908685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数据变成证据，证据变成规则，规则反过来优化下一次经营决策。</a:t>
            </a:r>
          </a:p>
        </p:txBody>
      </p:sp>
    </p:spTree>
    <p:extLst>
      <p:ext uri="{BB962C8B-B14F-4D97-AF65-F5344CB8AC3E}">
        <p14:creationId xmlns:p14="http://schemas.microsoft.com/office/powerpoint/2010/main" val="26843190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4821F0E-473C-444F-AE8F-A9C41360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D1C6A-0828-4201-93C5-12049452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4F241-6269-45A5-A741-27B0BEFD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51F6F-E269-4209-8620-2FFD0F0C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B39DF-3EA3-4230-B8F2-D10FFA88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223D4-5E78-4705-869C-AFD17653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83DEB-3EED-4BA9-951B-2B535E0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24E5A-4706-476E-B4A7-73380F8A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51999-811C-4611-A468-0A60B0E6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FD929-CE66-4CAD-A1C0-B28D3AC9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DA3E9-9257-4218-9230-53121558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F79B7-9972-4180-BF4C-865655C1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47131D-929F-4B45-ACBB-C82C9EE0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4C536-12AF-4EA0-B8C5-96F5036A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5F819-7810-4FC6-B1FB-110B915C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4BD7C-1D7E-4CAE-A747-2043A133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283F8-B31B-45FE-9F9F-7A97E95E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8685C-2626-4445-9F9D-1DBC46BB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69BB45-63D4-4F00-BE46-5BBD9696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6BF78-FC19-47BD-BD2C-DC9AFE22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C3811-FF94-4F64-98D9-CE600E54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B90AE8-96DA-4647-A7C9-F5CEADB4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2915F-0A08-4A48-947C-5B66BC32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217005-E8A4-4C96-87A6-669ECF7D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5C4F12-B14C-4852-87AC-EAA00050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4EBFB8-359A-41E3-8AF8-85F7E8B8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C897D0-22FC-4466-947E-B4BFD78A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44C3F6-BBBC-4948-87C1-D85A0162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F01353-1AB4-4663-B4EE-12A90740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F4C67E-ACD3-425F-8CD7-48B2C3F2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E2C893-20AE-4E89-886F-970C3D89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090941-C9C4-4D4B-A433-FB49B25D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845B76-496D-4C06-BBFD-9AD7B750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9256FC-26EE-4725-BED7-A1434412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242686-3EA4-4F1B-8951-0E86B8EB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DA2D90-DC70-4028-BE3F-D14F52D6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2C23F9-64EC-45C2-BF32-91DB7F76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0320C4-0B1B-43E1-B8F0-245FD33B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ACEF20-92C4-449F-9B06-7D70103A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80E6BA-C705-49FE-8BF9-FEF7DF9E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5BBCEF-743F-4AB6-9BD1-2BD1C3EE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2F30BD-885A-4A20-8FD1-772290E3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732C2A-2ACD-4636-951F-61DAB0D7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755A41-40F4-493E-A6DA-3CE29D4F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D01CF6-ABE1-48F6-80A1-F39C0F38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DC5FA0-13A7-4692-A35B-85E3B71B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31D43F-7A27-4140-A7FD-FC4E68F9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110B0A-BD3A-4CF3-A556-4F5412F5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盈利方案：政府试点打样，合作社和企业付费复制。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8CAC62-34F4-4B82-A6E6-195A7078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形成部署费、订阅费、生态服务和数据报告的组合收入。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99FF74-BB3B-4CFF-82A7-EA10F900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841B8D-5D89-4C03-BECB-7763C773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8645D7-9ADF-48DB-8EAA-4B8D9C7E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政府/园区版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1A38B0-CB92-41D7-AE11-914C9302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000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部署费 5-15 万，年服务 8-30 万；服务政策、产业监测和公共治理。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23ED1F-457E-47E2-8A8D-4CD9EBFE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4871BD-CD28-432D-AA26-A541C493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98"/>
          </a:solidFill>
          <a:ln xmlns:a="http://schemas.openxmlformats.org/drawingml/2006/main" w="0">
            <a:solidFill>
              <a:srgbClr val="38679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CCC8F1-81A2-43E3-8997-085DDF64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52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合作社/农场版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300766-EC95-4CA5-9CC2-565908E3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2000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年费 0.3-2 万；按大棚、地块、账号和功能模块定价。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A50DEF3-D8B1-441E-A1DC-703B6AEB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CF490F-695D-4A4B-B5CD-D4C7B8ED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94DA6B0-7F50-4E31-9949-3EA2B2BA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52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企业采购版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858B4C-9119-4073-A292-D896E7BE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2000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年费 3-12 万；货源、溯源、路线、行情和供应商筛选。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5C23B00-4F99-4FC9-8BE9-5C565182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90DC561-5EC0-40F0-9EEF-26B14AAC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436"/>
          </a:solidFill>
          <a:ln xmlns:a="http://schemas.openxmlformats.org/drawingml/2006/main" w="0">
            <a:solidFill>
              <a:srgbClr val="B0443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28150CF-AEB4-4BFE-88DF-815EFF93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52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生态服务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1FE389-EDD6-4320-82D0-F160AD91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76450"/>
            <a:ext cx="2000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冷链、包装、农资、电商、培训按线索、服务或交易抽佣。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F0E8205-0AB3-42BF-9940-4D2ABE43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988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879FC3-9BFE-4224-81ED-405CB9D5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7EBE7A-907B-4796-8A08-F9914A49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54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收入与落地路径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501DD0C-718D-4894-AA5D-04652441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954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先以江苏句容样板验证价值：政府试点/园区版、合作社版、企业采购版、赛事与创业服务版。后续复制到县域农业局、产业园区、家庭农场和地方电商助农平台。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7B5DA11-FD81-473C-8FE8-EE278593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38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C02233C-369C-49C8-9692-EF77042B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531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30万+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F1D5AE-428C-4747-8B32-4C0F0BDA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341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首个县域试点目标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AA3D5B-D9B2-4CF7-9765-6BF75A2C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38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CB9B3F8-8C60-43A2-B077-A9B52659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7531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150万+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7B63705-D5D4-45EE-8ACE-B9EEBD8E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1341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3-5 个县域复制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6E78263-A177-4646-90E4-45F4E71A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38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69F8534-0487-4DCD-B289-F2EABDED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7531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40%+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DAC0AEF-0243-4184-8C37-6613CB3C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1341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软件服务毛利目标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ECAB20F-8F1B-452B-B69C-FF41A6C7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38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45C2C44-7103-42FC-ABCE-752F13CD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7531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4类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C66CB85-3ED2-49C8-A747-42C14AE0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1341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收入来源</a:t>
            </a:r>
          </a:p>
        </p:txBody>
      </p:sp>
    </p:spTree>
    <p:extLst>
      <p:ext uri="{BB962C8B-B14F-4D97-AF65-F5344CB8AC3E}">
        <p14:creationId xmlns:p14="http://schemas.microsoft.com/office/powerpoint/2010/main" val="147925611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58BA61E-42AE-490E-B27B-30B9B76B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6C6DE-AF8D-4CC4-B6E5-80C3F34E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D299A-EE6B-4329-8191-1E34E6C8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51812-5322-4FF2-AC74-9588C9E7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331DF-18B4-4129-A73E-2B7D318D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C8471-3B4B-4AF3-8F0B-19ED550E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F3817-50FE-4B92-A642-B3005977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30890-81A1-4420-81EB-7BAA6DA7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86E88-E775-4C55-A17F-260060AD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33DAE-7133-4DA4-BE1E-BBE847A8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60ADA-774F-458E-94FD-D0FCF82F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3D7EF-77F1-4882-B7CF-B1AEB016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23F4C-D5CE-40F8-BBC4-DDA9D092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B811F-E791-43D7-9997-0F1E53B6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B4826-9C40-4DE5-9FD3-AA9B3E1F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D9877-EE0B-4C4A-8FD4-1F71EDDB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067CA-828D-45F5-8026-F086213A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C983E-2773-4ED1-A32A-34EE172B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597A0-2A2F-4F3B-A408-E15C82ED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A03F9-0A34-4916-A080-6D2416D5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38F4E5-0168-4887-9979-9DF6F646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32D33-C722-4343-979C-70AE5A27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86DDF-489D-4C96-91BE-2FB1F61B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2F266E-3C6B-46DD-8BCF-4F1D88AF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E82A0A-E41E-4E78-8602-5BE60CA2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BB7E67-BEB9-4816-A5EE-A13BCC3B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6CBE9B-E944-40C3-84B5-596C63FA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E95137-AE48-4652-AF11-4A13D4AF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EE8FA9-7F00-4F4A-9AE6-B18F9BBD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9399B1-1FD4-41A6-8ACC-02A14D74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1D045C-FBCB-4B80-935B-7635A663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BE13FC-6499-4C9B-BA18-BF2FD5BF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3D774B-6065-45DA-9C19-48165FA7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F4F7B0-7E5B-4CFE-82AE-48A1E90B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19F45F-C29E-4B10-9E1C-548FE801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933444-AA3A-4BDE-89DF-EA762785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5EF76D-838D-4F69-8309-62A0AF2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13D8BB-0312-42B4-A2DE-74E11CFE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BBBE74-F261-4495-8893-BEB9798D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FA7305-025C-4CCC-BAC6-E9A83248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C9DFD5-C054-4D27-8C32-B29809AA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87B5E1-9C6D-487D-BDE5-31961A93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EDA950-BA7F-41AC-9395-07646BCA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3AD1C6-13A3-4266-BA1A-4381A041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701AD1-3618-4620-ABA8-0A190AEB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EB0902-49F1-4C04-A4CF-406ECD43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869DC0-8206-46D9-B9B1-A289AB9B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376D69-8E63-4AC4-A5C1-5813254A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三年增长飞轮：数据越多，判断越准，续费越强。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D6716A-848F-466F-BC2B-B1FE1456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从江苏句容样板开始，逐步复制到周边县域和农业园区。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F72F53-F0C5-4E01-9E9E-99F983B8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A1F059-BAC5-4572-831B-69F1D13C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C780F4-B27E-4B89-B020-7547F94F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0-6个月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4AFA6A-6054-44C3-895F-CC217D04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000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完成江苏句容试点，跑通一个大棚、一个合作社、一个部门服务窗口。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90D70D-359A-4DBF-8BB2-7D05E0C6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72FD66-C194-4CBA-85CC-071C9674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98"/>
          </a:solidFill>
          <a:ln xmlns:a="http://schemas.openxmlformats.org/drawingml/2006/main" w="0">
            <a:solidFill>
              <a:srgbClr val="38679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0E9AF9-8D68-427A-B954-A6D9713F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52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6-12个月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9BFEC6-677D-4EB7-8844-A6BCB545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2000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形成标准部署包、数据包和培训包，签约周边示范点。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636C86-D155-4D5A-BA22-B5BF11A8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B97507-2BDA-47B4-9BDC-E62F273D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2C21AB-AC8B-4F5A-84C8-63D19D3D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52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12-24个月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5E0ED4-3C4B-41BA-8893-494C3AFF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2000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复制到 3-5 个县域，接入冷链、农资和电商生态。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12D116-6184-4765-AED6-8F07D549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96C21B-B3D3-422D-AC8C-53F79C2D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436"/>
          </a:solidFill>
          <a:ln xmlns:a="http://schemas.openxmlformats.org/drawingml/2006/main" w="0">
            <a:solidFill>
              <a:srgbClr val="B0443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47915F-1802-425E-A1B1-D3BE084D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52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24-36个月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0D0F5FE-51A3-45F9-9E1E-384C2850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76450"/>
            <a:ext cx="2000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平台化运营，政府版、合作社版、企业版并行扩张。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BD2431-C687-4730-A791-614A66AC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988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36B3420-E7E7-46D4-BDDC-4019A447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C34BF8-28C3-475E-9EA1-4A9DAB24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54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收入与落地路径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C152FA1-99CB-4B36-ABDF-1644E32D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954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先以江苏句容样板验证价值：政府试点/园区版、合作社版、企业采购版、赛事与创业服务版。后续复制到县域农业局、产业园区、家庭农场和地方电商助农平台。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69EF8BF-391B-4F65-BDB1-A279DEC3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38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0AAD0F0-C68E-459D-8724-252A9E52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531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6个月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E4B4E0D-370B-4C1B-A34A-5334E5C6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341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首个试点周期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97CEDFB-3648-4F09-A26A-BF7A7D3A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38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5874899-0201-45AF-B7D2-91A5C020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7531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12个月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4626F98-A4E0-4E7C-B685-2BB77140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1341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复制模板形成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AC44213-271D-4BB0-8158-DC30F922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38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4139607-A6CF-4824-8B29-BC0CBDED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7531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24个月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ABDD163-010B-4C82-8AC2-B37A4A44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1341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多县域合同验证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CEA6567-737B-47E2-84FB-C6992353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38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89673DE-2FBA-4994-B7AC-06BCD398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7531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36个月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FA24D23-AE0F-43A3-9FE4-07D21A0B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1341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平台生态并行</a:t>
            </a:r>
          </a:p>
        </p:txBody>
      </p:sp>
    </p:spTree>
    <p:extLst>
      <p:ext uri="{BB962C8B-B14F-4D97-AF65-F5344CB8AC3E}">
        <p14:creationId xmlns:p14="http://schemas.microsoft.com/office/powerpoint/2010/main" val="85805613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8D83FBA-6BEF-4B6C-84A0-96EE5166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E92FB-1961-49B6-BFA7-278420A8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A6D90-A346-4E93-8D25-60E7AF6D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CE845-AC07-46F8-A723-2B771E77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91737-DC37-4DCC-81DE-9020CFD8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13065-979D-4B7C-AC0A-8F3B93B7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2102B-2633-427D-B1BA-4A468A5B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79558-E489-435B-AFAB-A8BBD9B4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E938D-6D6B-4E48-846E-1C19D64E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E255B-CAC1-47F5-AC0D-C7A63595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D3722-AB3B-44EA-8F57-149E1CBA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C93B3-177A-4697-AD06-11F4BB19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E8E49-7002-4CB5-A95F-8836BC9B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23163-6D37-45A6-B226-78C85E55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5CE23-ED77-4AD8-B2EF-AC383FF9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092E0-BD34-4430-80EC-F5D7BD37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9BD57-E9B7-44A0-A1AA-C06EFF75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7D561-1E45-4638-B1B5-D277B19F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32F5A-D16F-4145-B654-AB8ABD2D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6EDD2-08BF-40E3-9646-1CD00ABE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348ED-674C-441D-947D-682E577F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49BF1-056C-4332-B699-E3E3F28F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34063-78C9-4D46-BE48-704ADE8E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D74847-6E90-49C1-9F63-11BCDFDA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858A09-D265-49F7-9470-32798821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EB337-C68E-4E48-87E5-5A56F4F3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2E7557-4273-4498-B213-DE451671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68C51A-14FE-4141-804E-38AD3EB9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B1C259-8011-4CE3-813E-F16C75D5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C1CD47-A2A8-4992-9276-72B2071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D409E1-F12E-44DB-A570-772CFFE9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091717-F26D-4750-994B-A0A33ED7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5BE515-D435-4F44-97B0-0C26B576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D3A55A-DDE8-4932-B996-68A6F3F0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9C08FB-5CF7-4A12-866B-1BC82AB5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C45378-88BE-4B84-9E21-5FBEDFF7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7EC86C-E4FF-4F85-A524-30258FA8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361217-B643-467F-A4F2-E121FEA1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FFD287-CDB6-4E16-9FF8-9DE3C30A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2F9540-CA62-4090-9849-1FCFC500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842C6E-F02B-46DE-BE90-0812B1A8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7638BA-1135-4B9A-94C8-536A0B30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4D4FD3-14DE-46A5-B85C-F7E58282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1B263D-50DD-467A-8B23-150A91BC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880925-3DCA-46DA-9DF2-43739DA8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FFF768-22F4-4352-A5D7-023FDBEE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23C2DC-2A0F-4E27-8AD2-6EC3536B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C7CB59-76FF-4A40-89B0-B8E64F7C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竞争优势：比农业 App 更会综合，比通用模型更懂本地。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30C19C-F78C-4D76-8B63-832A27A8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真正的护城河是县域数据、业务入口、证据推理和经验沉淀的组合。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1841B4-6FE1-4DDD-9B9D-95E46E7A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811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对比维度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DC5EBD-8D15-45E6-BDF7-2B11EDF5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81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传统农业 App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C8D2F2-5D5F-46F8-9AB7-97C6E445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81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通用大模型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B24E4B-4686-44B6-9D1D-D359553B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581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AgriKB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3512B0-4648-410E-9AD9-0B884F29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EE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119CA1-3F07-40A8-BC27-E5FE7C97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本地化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049CF4-3127-49FD-9444-1781C45A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57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全国模板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6E60E4-7DEC-47BB-A742-47380F21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57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用户自己补背景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45E08C-F1AA-4C66-90DC-329BF289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574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默认江苏句容，可切换产地和目标市场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07F6F9-C3D7-4A16-A29B-51F58D49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C9B953-62C1-4C8D-A3DB-0EB6A4EC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实时性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7B5FDC-5028-4C2D-8B34-0071D1B1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43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更新慢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B75A710-19F6-4419-8B72-74A77BD9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能搜但不筛选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CE37DB-70D5-4999-A12A-EBDDC429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43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天气、行情、政策、路线联动判断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CD0106-6B90-4C7F-AAB2-8B358071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EE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4171122-7222-4664-86A1-785D773A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可执行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F49D44-C9FB-4CBC-B7F4-AA86FDBF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290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资讯展示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C5F702C-6F27-473B-85B8-62A0B756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建议泛泛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B0D8CDF-C692-4575-9B2B-928BAA25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输出采收、包装、销售、申报和物流动作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8581C58-3EDF-4CB8-AFA2-C53F1D66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F6E5E1D-564A-4B9A-A690-04DBDA68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可信度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69F8BAC-B83D-4F1B-8FC3-2594342F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14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来源分散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935F2DA-E1DB-4DC2-8769-09C906E0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14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证据链弱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15582DD-04B9-48F9-9493-20ABDDD4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14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证据链、知识树、规则解释可展开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A543D42-398D-4D90-B1E3-CFC1B4F4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EE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F69189-093D-42F4-91D7-A0278469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沉淀性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6FDFC70-582B-4DD4-9BB6-F60B3F94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006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用完即走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563116F-3AD0-41D3-A6C8-9FFC8304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006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聊天难复用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CA36AF7-FE0C-437B-8467-0F1D1C41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006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Ontology、经验规则、会话图谱持续积累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9486546-80B7-4A5B-88BA-B0A2C71E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E2C0C59-1700-4335-ABBE-96BF9D9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436"/>
          </a:solidFill>
          <a:ln xmlns:a="http://schemas.openxmlformats.org/drawingml/2006/main" w="0">
            <a:solidFill>
              <a:srgbClr val="B0443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7D6E98B-3082-4FE5-A138-5F3CD92B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67400"/>
            <a:ext cx="899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护城河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4C846AF-CA66-4E0E-A30F-5BDD8A1F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91250"/>
            <a:ext cx="89916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县域数据 + 农业本体 + 可审计推理 + 真实业务入口，形成持续沉淀的本地知识资产。</a:t>
            </a:r>
          </a:p>
        </p:txBody>
      </p:sp>
    </p:spTree>
    <p:extLst>
      <p:ext uri="{BB962C8B-B14F-4D97-AF65-F5344CB8AC3E}">
        <p14:creationId xmlns:p14="http://schemas.microsoft.com/office/powerpoint/2010/main" val="196964511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74823B2-C4A3-49C6-8F70-C4541DAA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E809C-48AA-4FBB-BB04-354CE785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7D78A-1F77-402C-AA3B-892CB4A6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9A3F3-25A8-49A5-8837-EFEFDF95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763FD-4E2F-476E-ABCA-DAF44CE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0D8F3-CF92-4796-80DE-475A4D07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5C901-27A9-43C5-847B-0558BE66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A4D99-2741-4CFF-9482-EA96B6E3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AFD75-4A29-400E-A61F-6633C682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0C978-E41C-4FA0-9328-D6653008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26F63-0A5F-4173-B1ED-00CAEB1A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AA922-F922-44EA-BDB4-5D9E946E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77C56-4875-4599-A55F-C3529D5A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70358-5D35-4330-A5FA-C669DA86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1BD30-5791-436B-B101-F0428A7B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B912A-401A-4BB7-82B2-CFBA051F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B2FDD-5689-456A-B658-BD5AD663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6129D-9741-409E-8616-927AD773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25978-6711-477F-AAE8-A208E2A5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BE681-8F83-4BA9-B373-C675B6A3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01DC3-D1B9-4B4A-B41E-97BFBD92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47197-A595-4E04-93D6-3853CFB1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A6AC5-331A-4FB5-AD3E-ECF44397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DF603E-AD70-42A5-8455-D9F1D006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B5A7F4-8BD9-4826-BA8F-6F7903DD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647F5E-644A-4D71-AAD0-1D7496A0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7D2161-E8C9-4B0D-8720-F96BF041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B8A35E-56EB-478F-8E45-22C61EB8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82FB67-D133-4BD2-889F-CCCE847E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E2E585-620F-49BB-AC4B-EFA3AB25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4A4373-D84A-42B2-9EE9-603D0C95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B77F88-CFD5-4323-8B47-52701D04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900842-EA9F-4036-BEDD-C80B3503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19117D-8F54-4371-A8C2-6BD4A293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DE5510-F0CB-4291-8ADF-E4712331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E4D1FE-C4C1-4563-96EB-F0AE9EEE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440B33-3E5B-411A-B0D8-94E30C80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64A5EE-DBC1-479A-92DE-0172A62F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D48589-1BA5-4EA3-959A-878A0B8B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AED65A-E1AC-4D89-A142-47FC9C15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883781-D1A6-4586-AB99-320EBC95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E5EACF-662C-4911-86C7-77C37DA9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490F5D-2ED6-43A5-A571-A37BFDAF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62B616-DD0F-4D65-B00A-87C0B3AF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CE88DB-AF15-483A-9E32-FFC15783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9454C7-DAFA-4AD7-B884-D65CCC0A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99D093-4F0D-4A9A-8E15-4B64D64C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57BAA6-7933-4F75-BB7E-C3BDD441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部署与硬件适配：手机、服务站、IoT 网关和边缘主机都能接。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E3DAF4-AD05-4A4C-998B-70F9D49E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比赛后可以直接进入试点，而不是停在方案阶段。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A4B138-92BE-48DE-9BB0-C1EFA2FD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11430">
            <a:solidFill>
              <a:srgbClr val="26704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8FA873-E21D-429D-8852-E0E88FC5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95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▣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A17DAC-81BA-4F83-BE73-426D81A1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764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手机 PWA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8E4969-9C22-4BB7-8529-23AA8623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农户扫码测试，少操作。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2140E7-AA54-46E1-A9C4-D7D4B17D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38679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AC14DB-0749-4BA2-A3EE-92083328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00250"/>
            <a:ext cx="495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▤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A6EA58-93ED-40AD-8496-B57CE3D6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764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服务站电脑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4A9C35-76BD-4C61-913C-FF75377A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098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乡镇窗口、合作社日常使用。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9144E4-401A-4141-BF1C-B18E0DEC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11430">
            <a:solidFill>
              <a:srgbClr val="B47A1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7BF8CC-9BAE-4A22-BEA6-604A6D22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95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▥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9CA3C7-24F7-49DD-BB8A-85F88363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764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IoT 网关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19F92CA-7A4D-40BE-8F82-5A9401F1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大棚传感器和现场屏接入。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1D2F9C-12F8-4998-AEB7-7B19C516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716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11430">
            <a:solidFill>
              <a:srgbClr val="B0443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E0334A-1D79-4B53-9457-629A55CE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00250"/>
            <a:ext cx="495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◇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983FCB-1BEC-447B-BBB1-1EE4324B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764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边缘主机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5D62ADD-36BD-44AE-A23F-27C253C8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98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离线资料、本地模型和数据缓存。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71CF199-B304-4BE4-A826-7104ABEE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4A8A50-7685-45FB-A4F8-40B2F960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18048D6-7755-4B97-AF49-5DAD3029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291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硬件适配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E8346E9-32D5-447E-B146-87E1CF59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52950"/>
            <a:ext cx="441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手机 PWA、乡镇服务站电脑、合作社大屏、园区 IoT 网关和边缘小主机都可接入。离线资料与本地模型可做兜底，联网时启用实时搜索和 Kimi。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F872AA4-F55D-4303-BBA6-B6DE9CC7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350587F-C751-4C76-9AB9-C4B977EC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8FE83AC-77DD-407C-ABB1-175D48E7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交付形态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D1D17E5-35F8-4B19-B1E2-6A148B90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52950"/>
            <a:ext cx="4419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一键启动、可信电脑部署、卸载脚本、API Key 配置、PPT/软著/专利/说明书在材料包内同步交付。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CE671B-F0CF-4367-BA78-734D50BB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619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3"/>
          </a:solidFill>
          <a:ln xmlns:a="http://schemas.openxmlformats.org/drawingml/2006/main" w="9525">
            <a:solidFill>
              <a:srgbClr val="26704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1D0DBF6-3979-42DB-BE17-D20A4197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864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IoT+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80146C3-A3C2-4AAE-90C5-87A0772C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19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38679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05ED76B-2CA9-47B7-A35F-F8ABD613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6864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边缘推理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99600A5-8F9E-4CEB-AECB-85CE627F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19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B47A1E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204CBF-8D24-4B97-A358-72483836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864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县域复制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66D7B67-E8B7-4530-882F-13CBC14B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DF"/>
          </a:solidFill>
          <a:ln xmlns:a="http://schemas.openxmlformats.org/drawingml/2006/main" w="9525">
            <a:solidFill>
              <a:srgbClr val="B0443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DE70AE3-A435-420A-B72E-883CEBA6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864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B04436"/>
                </a:solidFill>
                <a:latin typeface="Microsoft YaHei"/>
                <a:ea typeface="Microsoft YaHei"/>
                <a:cs typeface="Microsoft YaHei"/>
              </a:rPr>
              <a:t>可审计合规</a:t>
            </a:r>
          </a:p>
        </p:txBody>
      </p:sp>
    </p:spTree>
    <p:extLst>
      <p:ext uri="{BB962C8B-B14F-4D97-AF65-F5344CB8AC3E}">
        <p14:creationId xmlns:p14="http://schemas.microsoft.com/office/powerpoint/2010/main" val="138712375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0A19361-0E6A-475E-B215-632D62A7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F7F5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1A376-2243-48CE-A6B7-21F75A52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2DB3F-45E0-4983-83FE-08CC5AB1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FA928-BC8B-4E76-9296-100CA535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452EC-B2E5-46AA-942B-E367071C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64808-E9ED-4848-907C-D473CEEE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01AEE-6A70-41F3-9AF0-3DFB0002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F7D16-7806-4A83-A15A-80E5EF25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A6798-F4C8-4246-ACCD-A71B6F84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41F76-4A62-471D-9D90-DCE96DCB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DF6CE-D507-4B1A-A7A1-DB6B8B20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8B947-BEF8-471F-AC29-06E74F62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F6812-246A-4C17-9892-FF442D5D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E95E6-7158-4C7C-A42D-97B0B53D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E8F76-97BA-4A34-A586-8C1BEA4F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A6EB3C-12C4-4013-BF8A-5C05C197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51977-133B-40B6-88ED-4B95BD8C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6190A-C8A1-457F-922D-7DB30CF6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A4206-3B63-4B61-836A-21839BB4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104E0-A53D-4B77-8EDA-1FF8376E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2E988-CFD8-40B9-BC0D-F3A259A9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552A51-AD62-4590-AA99-51B38DD2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A470B-0903-4B26-998C-4039634C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9E7095-D0C9-410A-9056-10FC47FD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B1CC6-B6FF-42AB-AC99-F45DDBC0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88D62A-E808-4FD6-92A2-0DD5A8E6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8F0CA8-3351-4CE7-B5A0-375A5855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73CB04-C1E8-40A8-8196-79656939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9FFDF5-DFA6-43F5-95CC-294051F2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23570C-8576-475D-87BC-EA42A37A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9AFEE0-E9BA-47AF-8FCA-41E3EAE1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6166AB-901E-49B7-8BA2-FA46C571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A869AC-84D2-46AF-85C7-1C4D9217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0F13E9-48EC-4ECF-8B5A-B204BCA2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6A972B-058C-4B6C-8BBC-3541CB87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F66051-6C90-420A-B797-7E866ECC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AFC5CD-A144-44EC-AE32-95F5B8A7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BF5B13-B944-463F-8C03-69963D6E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CD3F7F-10A3-4F2D-A6C1-12ABC259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4B3AEE-556D-4D3B-8341-D7133965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3DFF7A-42D3-4B2D-A918-EF9BD4E0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09384E-5050-47D3-8058-81E9A5C2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3C5EBB-8916-4393-A8CD-598695F0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9"/>
          </a:solidFill>
          <a:ln xmlns:a="http://schemas.openxmlformats.org/drawingml/2006/main" w="0">
            <a:solidFill>
              <a:srgbClr val="EEF2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9F5447-A347-4DE1-A078-5CADC1A9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3F88D9-DB1F-469E-8329-BE3CB30E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2026 江苏句容“福地青年英才”创业大赛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04DA11-3797-4C44-B83B-1553CC7C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34920D-C1A3-4A25-918A-B66C1490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 数智新农人经营中枢 · 路演终版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8D3148-5A30-410C-9873-0D018C11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51D"/>
                </a:solidFill>
                <a:latin typeface="Microsoft YaHei"/>
                <a:ea typeface="Microsoft YaHei"/>
                <a:cs typeface="Microsoft YaHei"/>
              </a:rPr>
              <a:t>路演最后 60 秒：直接演示一条完整经营链路。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0D5DC5-99B2-4378-9C98-7FA56D3C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从首页提问，到作物监测、行情天气、政策解读、Kimi 实测和后台证据。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4A1CB2-4722-4B4B-B6DE-F70D902C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5048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10288690a45e9"/>
          <a:srcRect xmlns:a="http://schemas.openxmlformats.org/drawingml/2006/main" l="240" t="0" r="2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619250"/>
            <a:ext cx="4819650" cy="272415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99CE18-2696-4EB5-95A3-4CB95AB9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470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视频动效位：后台操作录制 MP4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26D34B-1DAF-4BD4-B62D-7BDA6927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554D3D-8AD8-4F74-8B1A-759411BE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048"/>
          </a:solidFill>
          <a:ln xmlns:a="http://schemas.openxmlformats.org/drawingml/2006/main" w="0">
            <a:solidFill>
              <a:srgbClr val="26704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7EDE41-36FA-4BED-8B1F-42C1B4CE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7048"/>
                </a:solidFill>
                <a:latin typeface="Microsoft YaHei"/>
                <a:ea typeface="Microsoft YaHei"/>
                <a:cs typeface="Microsoft YaHei"/>
              </a:rPr>
              <a:t>路演演示顺序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060672-7639-4136-B3E7-56FE4084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1. 首页入口  2. 作物监测台  3. 行情/天气/路线  4. 政策解读  5. Kimi 实测证据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C78CBD-4917-45AF-A195-2508BEE4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241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4AAF19-887D-4976-A7B1-823D6BC9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241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98"/>
          </a:solidFill>
          <a:ln xmlns:a="http://schemas.openxmlformats.org/drawingml/2006/main" w="0">
            <a:solidFill>
              <a:srgbClr val="38679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7EDF4A-4BAF-4625-ACC0-BE790F3E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6798"/>
                </a:solidFill>
                <a:latin typeface="Microsoft YaHei"/>
                <a:ea typeface="Microsoft YaHei"/>
                <a:cs typeface="Microsoft YaHei"/>
              </a:rPr>
              <a:t>视频文件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E5D1BE7-0CB1-46E0-8C8E-BA5D3A1A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AgriKB_backend_operation_demo_20260525.mp4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23BE08-735E-4638-915E-90171D14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671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B"/>
          </a:solidFill>
          <a:ln xmlns:a="http://schemas.openxmlformats.org/drawingml/2006/main" w="9525">
            <a:solidFill>
              <a:srgbClr val="D4E0C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427783-9574-4E50-A6AF-8856AA2E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671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E"/>
          </a:solidFill>
          <a:ln xmlns:a="http://schemas.openxmlformats.org/drawingml/2006/main" w="0">
            <a:solidFill>
              <a:srgbClr val="B47A1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11FDF36-5678-4FE3-A520-46FE7483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7A1E"/>
                </a:solidFill>
                <a:latin typeface="Microsoft YaHei"/>
                <a:ea typeface="Microsoft YaHei"/>
                <a:cs typeface="Microsoft YaHei"/>
              </a:rPr>
              <a:t>收口表达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ECEC38-AE65-4C50-8C4D-53EE9AB1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D64"/>
                </a:solidFill>
                <a:latin typeface="Microsoft YaHei"/>
                <a:ea typeface="Microsoft YaHei"/>
                <a:cs typeface="Microsoft YaHei"/>
              </a:rPr>
              <a:t>这不是一个农业问答 Demo，而是江苏句容新农人可落地、农业局可治理、企业可采购的数智经营中枢。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FE6A045-B775-465E-8A83-06A1FF9B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721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4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452F"/>
                </a:solidFill>
                <a:latin typeface="Microsoft YaHei"/>
                <a:ea typeface="Microsoft YaHei"/>
                <a:cs typeface="Microsoft YaHei"/>
              </a:rPr>
              <a:t>我们申请：试点场景、赛事支持、产业资源对接。</a:t>
            </a:r>
          </a:p>
        </p:txBody>
      </p:sp>
    </p:spTree>
    <p:extLst>
      <p:ext uri="{BB962C8B-B14F-4D97-AF65-F5344CB8AC3E}">
        <p14:creationId xmlns:p14="http://schemas.microsoft.com/office/powerpoint/2010/main" val="1275898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2026-05-25T06:00:08.2500000Z</dcterms:created>
  <dcterms:modified xsi:type="dcterms:W3CDTF">2026-05-25T06:00:08.2500000Z</dcterms:modified>
</coreProperties>
</file>